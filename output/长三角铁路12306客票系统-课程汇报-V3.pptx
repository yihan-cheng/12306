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b8eb07e794008" /><Relationship Type="http://schemas.openxmlformats.org/officeDocument/2006/relationships/extended-properties" Target="/docProps/app.xml" Id="R4bf030d20ac7445c" /><Relationship Type="http://schemas.openxmlformats.org/officeDocument/2006/relationships/officeDocument" Target="/ppt/presentation.xml" Id="R1884e371429f4a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2c93f926a4071"/>
  </p:sldMasterIdLst>
  <p:notesMasterIdLst>
    <p:notesMasterId xmlns:r="http://schemas.openxmlformats.org/officeDocument/2006/relationships" r:id="R8c5f0cf821df43df"/>
  </p:notesMasterIdLst>
  <p:sldIdLst>
    <p:sldId xmlns:r="http://schemas.openxmlformats.org/officeDocument/2006/relationships" id="256" r:id="R26dabc14e364489b"/>
    <p:sldId xmlns:r="http://schemas.openxmlformats.org/officeDocument/2006/relationships" id="257" r:id="R75617f3186d94a9a"/>
    <p:sldId xmlns:r="http://schemas.openxmlformats.org/officeDocument/2006/relationships" id="258" r:id="R348da5676e784acc"/>
    <p:sldId xmlns:r="http://schemas.openxmlformats.org/officeDocument/2006/relationships" id="259" r:id="Rc2fce2e4679f4057"/>
    <p:sldId xmlns:r="http://schemas.openxmlformats.org/officeDocument/2006/relationships" id="260" r:id="Ree416c84efef4907"/>
    <p:sldId xmlns:r="http://schemas.openxmlformats.org/officeDocument/2006/relationships" id="261" r:id="R23ed4c39ecf24947"/>
    <p:sldId xmlns:r="http://schemas.openxmlformats.org/officeDocument/2006/relationships" id="262" r:id="Re63622624b584136"/>
    <p:sldId xmlns:r="http://schemas.openxmlformats.org/officeDocument/2006/relationships" id="263" r:id="R3034581e45ae4cf5"/>
    <p:sldId xmlns:r="http://schemas.openxmlformats.org/officeDocument/2006/relationships" id="264" r:id="Re01128a999af4896"/>
    <p:sldId xmlns:r="http://schemas.openxmlformats.org/officeDocument/2006/relationships" id="265" r:id="Rbd27cd22777d4ce8"/>
    <p:sldId xmlns:r="http://schemas.openxmlformats.org/officeDocument/2006/relationships" id="266" r:id="Rb92b1e371cd94cf5"/>
    <p:sldId xmlns:r="http://schemas.openxmlformats.org/officeDocument/2006/relationships" id="267" r:id="R5e52d963dc7944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82f81563ba4034" /><Relationship Type="http://schemas.openxmlformats.org/officeDocument/2006/relationships/slideMaster" Target="/ppt/slideMasters/slideMaster1.xml" Id="R0a12c93f926a4071" /><Relationship Type="http://schemas.openxmlformats.org/officeDocument/2006/relationships/notesMaster" Target="/ppt/notesMasters/notesMaster1.xml" Id="R8c5f0cf821df43df" /><Relationship Type="http://schemas.openxmlformats.org/officeDocument/2006/relationships/presProps" Target="/ppt/presProps.xml" Id="Rfa0052bbd8fc49f1" /><Relationship Type="http://schemas.openxmlformats.org/officeDocument/2006/relationships/tableStyles" Target="/ppt/tableStyles.xml" Id="Rdec4e4f93c844302" /><Relationship Type="http://schemas.openxmlformats.org/officeDocument/2006/relationships/slide" Target="/ppt/slides/slide1.xml" Id="R26dabc14e364489b" /><Relationship Type="http://schemas.openxmlformats.org/officeDocument/2006/relationships/slide" Target="/ppt/slides/slide2.xml" Id="R75617f3186d94a9a" /><Relationship Type="http://schemas.openxmlformats.org/officeDocument/2006/relationships/slide" Target="/ppt/slides/slide3.xml" Id="R348da5676e784acc" /><Relationship Type="http://schemas.openxmlformats.org/officeDocument/2006/relationships/slide" Target="/ppt/slides/slide4.xml" Id="Rc2fce2e4679f4057" /><Relationship Type="http://schemas.openxmlformats.org/officeDocument/2006/relationships/slide" Target="/ppt/slides/slide5.xml" Id="Ree416c84efef4907" /><Relationship Type="http://schemas.openxmlformats.org/officeDocument/2006/relationships/slide" Target="/ppt/slides/slide6.xml" Id="R23ed4c39ecf24947" /><Relationship Type="http://schemas.openxmlformats.org/officeDocument/2006/relationships/slide" Target="/ppt/slides/slide7.xml" Id="Re63622624b584136" /><Relationship Type="http://schemas.openxmlformats.org/officeDocument/2006/relationships/slide" Target="/ppt/slides/slide8.xml" Id="R3034581e45ae4cf5" /><Relationship Type="http://schemas.openxmlformats.org/officeDocument/2006/relationships/slide" Target="/ppt/slides/slide9.xml" Id="Re01128a999af4896" /><Relationship Type="http://schemas.openxmlformats.org/officeDocument/2006/relationships/slide" Target="/ppt/slides/slide10.xml" Id="Rbd27cd22777d4ce8" /><Relationship Type="http://schemas.openxmlformats.org/officeDocument/2006/relationships/slide" Target="/ppt/slides/slide11.xml" Id="Rb92b1e371cd94cf5" /><Relationship Type="http://schemas.openxmlformats.org/officeDocument/2006/relationships/slide" Target="/ppt/slides/slide12.xml" Id="R5e52d963dc7944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4f102b348741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a09b2402c4b91" /><Relationship Type="http://schemas.openxmlformats.org/officeDocument/2006/relationships/notesMaster" Target="/ppt/notesMasters/notesMaster1.xml" Id="Ra7b9e69d0bb743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3d8d6482234841" /><Relationship Type="http://schemas.openxmlformats.org/officeDocument/2006/relationships/notesMaster" Target="/ppt/notesMasters/notesMaster1.xml" Id="Rdd860dea0fa242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ed4ea85c9c4661" /><Relationship Type="http://schemas.openxmlformats.org/officeDocument/2006/relationships/notesMaster" Target="/ppt/notesMasters/notesMaster1.xml" Id="Rca7d6665162943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b8b32f0a744831" /><Relationship Type="http://schemas.openxmlformats.org/officeDocument/2006/relationships/notesMaster" Target="/ppt/notesMasters/notesMaster1.xml" Id="R0990ccfbfc8e48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5f2ac52e904305" /><Relationship Type="http://schemas.openxmlformats.org/officeDocument/2006/relationships/notesMaster" Target="/ppt/notesMasters/notesMaster1.xml" Id="R86ae0e4c77f2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d0c38e3dd540f6" /><Relationship Type="http://schemas.openxmlformats.org/officeDocument/2006/relationships/notesMaster" Target="/ppt/notesMasters/notesMaster1.xml" Id="Rfa02e63861cb47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72a24b46bd45b1" /><Relationship Type="http://schemas.openxmlformats.org/officeDocument/2006/relationships/notesMaster" Target="/ppt/notesMasters/notesMaster1.xml" Id="Rf01a4fc76d204d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228410076f4ef4" /><Relationship Type="http://schemas.openxmlformats.org/officeDocument/2006/relationships/notesMaster" Target="/ppt/notesMasters/notesMaster1.xml" Id="Rf08357f5ea1542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e5fa25f214f22" /><Relationship Type="http://schemas.openxmlformats.org/officeDocument/2006/relationships/notesMaster" Target="/ppt/notesMasters/notesMaster1.xml" Id="Re7d58dcc090e46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c3e1c505c54f7c" /><Relationship Type="http://schemas.openxmlformats.org/officeDocument/2006/relationships/notesMaster" Target="/ppt/notesMasters/notesMaster1.xml" Id="R90ac3a8199f145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d91065851e49b3" /><Relationship Type="http://schemas.openxmlformats.org/officeDocument/2006/relationships/notesMaster" Target="/ppt/notesMasters/notesMaster1.xml" Id="R3fb05328e5a744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a0b96007494bb8" /><Relationship Type="http://schemas.openxmlformats.org/officeDocument/2006/relationships/notesMaster" Target="/ppt/notesMasters/notesMaster1.xml" Id="Rfdcd755734e5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各位老师好，我们的项目是长三角铁路12306客票系统。我们围绕铁路售票的核心数据问题，使用MySQL、Neo4j、Redis和Python构建了完整的查询、购票、退票与候补流程。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春运期间，铁路客流规模巨大。系统既要承受访问洪峰，又要实时计算可复用的区间库存，同时保证支付、退票和候补兑现的一致性。这三类问题决定了真实12306的数据库与交易架构。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真实客票系统采用多数据中心架构。武清与同城数据中心同步承载在线业务，异地灾备中心复制关键数据。铁路专网服务站内终端，移动网络服务互联网和移动终端。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铁路客票系统不会让单一数据库承担所有工作。交易与订单需要关系数据库保证一致性，快速查询可使用缓存，历史订单和统计分析适合大数据平台。我们的项目沿用这一思路，但把范围控制在MySQL、Neo4j和Redis三种数据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系统采用分层结构。用户端和管理端通过Python服务层访问数据库。MySQL负责交易与库存，Neo4j负责换乘搜索，Redis负责快速唤醒后台任务。三者职责清晰，系统即使暂时失去Redis也不会丢失业务数据。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ER模型分为铁路运行、区间库存和用户交易三个领域。车次模板与每日运行实例分离，使不同日期拥有独立库存。订单主体、明细、支付和座位分配分别建模，减少冗余并通过主外键和唯一约束保证完整性。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Python位于客户端和数据库之间，负责接口、参数校验和流程调度。直达查询由MySQL完成。一次换乘先由Neo4j搜索候选路径，再回到MySQL验证运行日期、换乘时间、票价和实时库存。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区间位图解决席位复用问题。每个相邻区段对应一个二进制位，一个运行座位用BIGINT记录整条线路的占用状态。请求位图与占用位图按位与为零，说明区间不冲突。购票按位或，退票按位与非。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位图解决库存表示，并发购票还需要事务锁。系统用FOR UPDATE锁定候选座位，获得锁后重新检查位图。订单、座位分配和库存更新在一个事务内提交，任何一步失败都整体回滚。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系统把订票请求先持久化到MySQL缓冲表，再由Redis快速唤醒工作线程。Redis只保存信号，不保存业务权威状态。即使Redis失效，后台线程仍可通过MySQL轮询继续处理任务。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无票用户的候补请求先持久化到MySQL。退票释放库存后，系统立即触发匹配，后台线程还会定期补偿扫描。队列以创建时间为主序，并允许有限跳过，在公平性和库存利用率之间取得平衡。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系统已经实现用户端的查询、购票和电子车票，也实现了管理端的候补队列实时监控。管理员可以查看相关区间的已支付座位、候补人数、队列顺序和兑现结果。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25a94a9b142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dea87f4fe45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ced1b389741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354f3e8004f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6471fcabc4f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49d5b977d4d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23B76B-9AD9-4712-9D2C-3EB7EC6EFD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D36D6D-5AD3-45F2-8364-718442F5B1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EE873B-5D9C-4F23-A847-90B7A80E5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D5CCBD-0280-4174-9834-C86D91411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996075-B00B-4B42-9FB3-4DA654902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1E7360-2687-4A66-9CA8-FCF947D45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97F6FD-8DE3-4D5A-8640-CFA1894219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9546F9-ADA8-4ED6-8E7E-A89E6B413F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EBCCD7-6C79-4A54-AB89-F8EC6C92B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24ED9-CB93-4628-8E2F-2BD9071080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2f191f34a4ba6" /><Relationship Type="http://schemas.openxmlformats.org/officeDocument/2006/relationships/slideLayout" Target="/ppt/slideLayouts/slideLayout1.xml" Id="Re877d24479c644b9" /><Relationship Type="http://schemas.openxmlformats.org/officeDocument/2006/relationships/slideLayout" Target="/ppt/slideLayouts/slideLayout2.xml" Id="R572fb4a7f6874358" /><Relationship Type="http://schemas.openxmlformats.org/officeDocument/2006/relationships/slideLayout" Target="/ppt/slideLayouts/slideLayout3.xml" Id="R56bbfea64e8d44ea" /><Relationship Type="http://schemas.openxmlformats.org/officeDocument/2006/relationships/slideLayout" Target="/ppt/slideLayouts/slideLayout4.xml" Id="Rf050ca3b10344491" /><Relationship Type="http://schemas.openxmlformats.org/officeDocument/2006/relationships/slideLayout" Target="/ppt/slideLayouts/slideLayout5.xml" Id="R46a45565bc854dd3" /><Relationship Type="http://schemas.openxmlformats.org/officeDocument/2006/relationships/slideLayout" Target="/ppt/slideLayouts/slideLayout6.xml" Id="Rd30f3e6fd0df4e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77d24479c644b9"/>
    <p:sldLayoutId xmlns:r="http://schemas.openxmlformats.org/officeDocument/2006/relationships" id="2147483650" r:id="R572fb4a7f6874358"/>
    <p:sldLayoutId xmlns:r="http://schemas.openxmlformats.org/officeDocument/2006/relationships" id="2147483651" r:id="R56bbfea64e8d44ea"/>
    <p:sldLayoutId xmlns:r="http://schemas.openxmlformats.org/officeDocument/2006/relationships" id="2147483652" r:id="Rf050ca3b10344491"/>
    <p:sldLayoutId xmlns:r="http://schemas.openxmlformats.org/officeDocument/2006/relationships" id="2147483653" r:id="R46a45565bc854dd3"/>
    <p:sldLayoutId xmlns:r="http://schemas.openxmlformats.org/officeDocument/2006/relationships" id="2147483654" r:id="Rd30f3e6fd0df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08a0277484602" /><Relationship Type="http://schemas.openxmlformats.org/officeDocument/2006/relationships/image" Target="/ppt/media/image.png" Id="Rfc4097b88a854706" /><Relationship Type="http://schemas.openxmlformats.org/officeDocument/2006/relationships/notesSlide" Target="/ppt/notesSlides/notesSlide1.xml" Id="R7f54702b01754c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2a960342249cd" /><Relationship Type="http://schemas.openxmlformats.org/officeDocument/2006/relationships/image" Target="/ppt/media/image2.png" Id="R71c15309eb7d4613" /><Relationship Type="http://schemas.openxmlformats.org/officeDocument/2006/relationships/image" Target="/ppt/media/image3.png" Id="R7f3798cac1fa42f0" /><Relationship Type="http://schemas.openxmlformats.org/officeDocument/2006/relationships/notesSlide" Target="/ppt/notesSlides/notesSlide2.xml" Id="R92f50cba970449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413a969b24dbe" /><Relationship Type="http://schemas.openxmlformats.org/officeDocument/2006/relationships/image" Target="/ppt/media/image4.png" Id="Rd3cd716f83ec4185" /><Relationship Type="http://schemas.openxmlformats.org/officeDocument/2006/relationships/image" Target="/ppt/media/image5.png" Id="R12dd8fe1e41c4507" /><Relationship Type="http://schemas.openxmlformats.org/officeDocument/2006/relationships/notesSlide" Target="/ppt/notesSlides/notesSlide3.xml" Id="Rdad85aff0fcb4d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1ff5ac5914ec4" /><Relationship Type="http://schemas.openxmlformats.org/officeDocument/2006/relationships/image" Target="/ppt/media/image6.png" Id="R35cc3831725d4720" /><Relationship Type="http://schemas.openxmlformats.org/officeDocument/2006/relationships/image" Target="/ppt/media/image7.png" Id="R20aee72cd3724d38" /><Relationship Type="http://schemas.openxmlformats.org/officeDocument/2006/relationships/image" Target="/ppt/media/image8.png" Id="R8fe7c52a320c4c63" /><Relationship Type="http://schemas.openxmlformats.org/officeDocument/2006/relationships/notesSlide" Target="/ppt/notesSlides/notesSlide4.xml" Id="Rbe58747ec38146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38d104e184a71" /><Relationship Type="http://schemas.openxmlformats.org/officeDocument/2006/relationships/image" Target="/ppt/media/image9.png" Id="R5c9bb28449fd43a4" /><Relationship Type="http://schemas.openxmlformats.org/officeDocument/2006/relationships/image" Target="/ppt/media/image10.png" Id="R88bd6c78de7a4efd" /><Relationship Type="http://schemas.openxmlformats.org/officeDocument/2006/relationships/notesSlide" Target="/ppt/notesSlides/notesSlide5.xml" Id="R200fd142c38a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9491f34174439" /><Relationship Type="http://schemas.openxmlformats.org/officeDocument/2006/relationships/image" Target="/ppt/media/image11.png" Id="R7b2117497d304b9c" /><Relationship Type="http://schemas.openxmlformats.org/officeDocument/2006/relationships/image" Target="/ppt/media/image12.png" Id="Re6e463d3e31d4ace" /><Relationship Type="http://schemas.openxmlformats.org/officeDocument/2006/relationships/notesSlide" Target="/ppt/notesSlides/notesSlide6.xml" Id="R02d62a37add947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a8012fa4824d13" /><Relationship Type="http://schemas.openxmlformats.org/officeDocument/2006/relationships/image" Target="/ppt/media/image13.png" Id="Radb110d52eb54750" /><Relationship Type="http://schemas.openxmlformats.org/officeDocument/2006/relationships/image" Target="/ppt/media/image14.png" Id="Rcf8a0ed3fdcb454d" /><Relationship Type="http://schemas.openxmlformats.org/officeDocument/2006/relationships/notesSlide" Target="/ppt/notesSlides/notesSlide7.xml" Id="R3e28107f1ce646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7dda0a4804c99" /><Relationship Type="http://schemas.openxmlformats.org/officeDocument/2006/relationships/image" Target="/ppt/media/image15.png" Id="R18a11a7efe3c4dbf" /><Relationship Type="http://schemas.openxmlformats.org/officeDocument/2006/relationships/image" Target="/ppt/media/image16.png" Id="Ra1725818472040a9" /><Relationship Type="http://schemas.openxmlformats.org/officeDocument/2006/relationships/notesSlide" Target="/ppt/notesSlides/notesSlide8.xml" Id="R52c0b6c28c374b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36923a43f48e0" /><Relationship Type="http://schemas.openxmlformats.org/officeDocument/2006/relationships/image" Target="/ppt/media/image17.png" Id="R49addcb27ec94067" /><Relationship Type="http://schemas.openxmlformats.org/officeDocument/2006/relationships/image" Target="/ppt/media/image18.png" Id="R10024bc406034605" /><Relationship Type="http://schemas.openxmlformats.org/officeDocument/2006/relationships/notesSlide" Target="/ppt/notesSlides/notesSlide9.xml" Id="R69d05626647444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2cdc913f74a66" /><Relationship Type="http://schemas.openxmlformats.org/officeDocument/2006/relationships/image" Target="/ppt/media/image19.png" Id="R6f7323f32acd497d" /><Relationship Type="http://schemas.openxmlformats.org/officeDocument/2006/relationships/image" Target="/ppt/media/image20.png" Id="R8a4062fa524a4d8e" /><Relationship Type="http://schemas.openxmlformats.org/officeDocument/2006/relationships/notesSlide" Target="/ppt/notesSlides/notesSlide10.xml" Id="Rd359d855419043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665f23da54e97" /><Relationship Type="http://schemas.openxmlformats.org/officeDocument/2006/relationships/image" Target="/ppt/media/image21.png" Id="R57753bad880341b1" /><Relationship Type="http://schemas.openxmlformats.org/officeDocument/2006/relationships/image" Target="/ppt/media/image22.png" Id="Rbaa6e51f18a94928" /><Relationship Type="http://schemas.openxmlformats.org/officeDocument/2006/relationships/notesSlide" Target="/ppt/notesSlides/notesSlide11.xml" Id="Rabe4ce57192f41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d4dc1f0bf494b" /><Relationship Type="http://schemas.openxmlformats.org/officeDocument/2006/relationships/image" Target="/ppt/media/image23.png" Id="R3433c0ff70254010" /><Relationship Type="http://schemas.openxmlformats.org/officeDocument/2006/relationships/image" Target="/ppt/media/image24.png" Id="R34d1962875ca42b1" /><Relationship Type="http://schemas.openxmlformats.org/officeDocument/2006/relationships/image" Target="/ppt/media/image25.png" Id="R62c6967a0b2f442f" /><Relationship Type="http://schemas.openxmlformats.org/officeDocument/2006/relationships/image" Target="/ppt/media/image26.png" Id="R136d8cc79bfc42c7" /><Relationship Type="http://schemas.openxmlformats.org/officeDocument/2006/relationships/notesSlide" Target="/ppt/notesSlides/notesSlide12.xml" Id="Rf7e0b3e6f55849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D10845-1B67-4926-94A7-5C65B36A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E6A9D-7562-42A3-A060-B7177A38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7DBD6-BFD4-40D4-9239-F3E4781E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D258F-5826-4344-A0E3-F2CA4653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70096-6C38-49CA-8DB1-C8D5D2E9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D6F81-9E2B-4C62-915A-C891C3A9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220E5-6704-45CF-A054-A1B768AD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6858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8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BD82E-4B6D-4813-9668-DC10CB38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429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6EA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CB71E-7465-49B8-9DAD-B8F522ACE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097b88a854706"/>
          <a:stretch xmlns:a="http://schemas.openxmlformats.org/drawingml/2006/main"/>
        </p:blipFill>
        <p:spPr>
          <a:xfrm xmlns:a="http://schemas.openxmlformats.org/drawingml/2006/main">
            <a:off x="1123950" y="893124"/>
            <a:ext cx="819150" cy="41402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1F36C-CC5B-4F90-9466-5E5CABAD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954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76EE8-1BC1-44B4-8FFA-37D7D86C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953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5E397-13FB-4BDA-9B27-8D0CA39F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0E4C8-40F7-46F2-8691-620EB75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F1682-26A9-4921-B67A-C7AD9BCE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D33A8-A14A-4967-9DC8-8107432F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611AD-6740-4C2E-AF51-6637D55D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29D34-B41C-4170-873A-7F03163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长三角铁路12306客票系统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AF7E5-643D-41C6-9DB1-5882DBC7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基于多数据库协作的铁路售票系统设计与实现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5C419-1EA8-4010-B670-B44515FE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81425"/>
            <a:ext cx="4572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C1D46-612E-47A7-BAAF-3EF591F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83F1B-0098-4BC4-AC26-6A3481ED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0C3F2-7555-4C03-B850-74735F58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8672D-CFAE-4CAD-A894-9C3F05A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9223F-6D05-442B-8B74-B8894AC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CEC92-D5B4-486E-AC0E-E85BD5D3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EC85D-E40F-41A3-9946-6AE245A3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7195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AC498-D708-4F22-A7A2-3232DC9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71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58307-1A52-4D37-BCD7-96C25C32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768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数据库课程设计汇报</a:t>
            </a:r>
          </a:p>
        </p:txBody>
      </p:sp>
    </p:spTree>
    <p:extLst>
      <p:ext uri="{BB962C8B-B14F-4D97-AF65-F5344CB8AC3E}">
        <p14:creationId xmlns:p14="http://schemas.microsoft.com/office/powerpoint/2010/main" val="2070752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538810-7FE3-4F09-8F4D-EBBBD151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5FB46-8227-497F-AB73-6314890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1BECE-AE92-4A08-ACFC-4B53409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09F4F-C645-47BA-9091-0861B0E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51369-E483-4B2F-8003-E80ED1EA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E62CD-0FA6-4578-908B-B07016AC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BFF7C-68EE-424C-A91C-5F7614CF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1E1F2-EF0A-488D-9624-9F0589CC5C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15309eb7d4613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43E91-5D17-4331-B01C-32D5943F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00F40-4183-400A-90BC-6BFF2D13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B8E4D-EA70-4BAA-B5AE-56FE910C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388AC-BF3D-4741-902D-AD78A640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9CE8D-900F-4FF8-9C2B-A3460C59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7B941-53EC-4852-A8E3-CCCD70A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38644-0838-42D9-9351-E5940B3C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852BA-FFCC-43FE-81B2-0B3A9CE8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F1431-66F2-45A3-B2F0-FEE5D0DA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9D73B-C948-4968-B04A-DBAA2CA0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真实12306的数据库挑战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D2FCE-F95C-4E93-8B58-92EB55A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B716C-F826-4939-A124-D7D759A1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2,973.7万张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2F8CF-D685-4AE2-9361-26A09B7C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单日售票峰值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A9A29-DB68-4860-917C-35DA62DB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百万次/秒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D1EBA-4B32-4CAD-ABF1-7D17B42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98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春运高峰访问量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C776B-E1B0-45D2-9209-354D3F41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3EC1C-BCED-4F72-808D-0A9CDB78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851468-6626-47C4-8365-3C3C5E12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请求洪峰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0A4A5-ADC4-4F0F-9045-1DB4EBA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28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交易请求先排队再进入分布式服务，避免瞬时流量直接冲击库存库。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20C44E-561C-4FA0-A4F2-682C20CE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D8E923-7019-4B02-9CB5-8E488DC2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区间库存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24ACE-B582-49E0-9F30-89B60E58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86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余票按运行区间计算，同一席位可在互不重叠的区段重复出售。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651C53-C0E0-496B-88ED-A74092C7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D66405-ADD1-4DEF-A597-5DCDD006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交易一致性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69B0C1-61C1-4A72-8646-5BF43305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434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占座、支付、退票与候补兑现必须处于可回滚的事务边界内。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2C9C9E-0404-4C13-B349-69BD44CF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57340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3F581E-A074-43B4-9874-CBC277ED5A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798cac1fa42f0"/>
          <a:stretch xmlns:a="http://schemas.openxmlformats.org/drawingml/2006/main"/>
        </p:blipFill>
        <p:spPr>
          <a:xfrm xmlns:a="http://schemas.openxmlformats.org/drawingml/2006/main">
            <a:off x="7090390" y="2038350"/>
            <a:ext cx="2411771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C34AD-4504-4D2D-81E8-452CDA8A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042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数据图来源：中国国家铁路集团有限公司公开信息；访问量与售票量采用不同统计口径</a:t>
            </a:r>
          </a:p>
        </p:txBody>
      </p:sp>
    </p:spTree>
    <p:extLst>
      <p:ext uri="{BB962C8B-B14F-4D97-AF65-F5344CB8AC3E}">
        <p14:creationId xmlns:p14="http://schemas.microsoft.com/office/powerpoint/2010/main" val="288150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8F33F4-3546-4B49-A379-9855BFE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BAC6C-8D34-44A4-9AD6-74111D0F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79761-A15C-4D4F-B9F3-9DD287AE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2D958-8A87-41F5-9A24-19D93279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CA5F9-ED6F-402D-B883-A888DA89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B542F-4A9D-4599-B384-55C663D3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34D0C-FB51-483F-8A42-2DB0E6AF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2140C-8477-48BA-8068-3C2D58F3D0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d716f83ec4185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27AD0-5DE0-47BE-A1CC-B9D9534B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91F65-402F-4489-A361-B57FB297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E708-6788-4320-A1BC-0A8ADB6A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1B19C-4FEA-4BD6-949C-E6822218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D71F7-4FD3-4F1B-BA74-1854294A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C5EBF-A96E-4E84-BB00-3D681DB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5CA46-DE52-4833-B9C0-4D073826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FB95D-DD73-4ED2-B8C3-6FE28384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808E5-08EF-4E55-9517-E888E28F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D46C6-A7C1-4F3A-8C48-803B8E2F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真实客票系统7.0总体架构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02A2D-565F-4F74-9124-E2F66534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5F185-A881-43A1-AEC9-81667A87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7239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11F13-F24C-43AE-8866-1083331CF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d8fe1e41c4507"/>
          <a:stretch xmlns:a="http://schemas.openxmlformats.org/drawingml/2006/main"/>
        </p:blipFill>
        <p:spPr>
          <a:xfrm xmlns:a="http://schemas.openxmlformats.org/drawingml/2006/main">
            <a:off x="1030357" y="2066925"/>
            <a:ext cx="6778487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49722-4057-4B93-A0EF-847C982E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多中心协同保证连续服务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3E426-AFC0-4230-9EA8-0C033460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双中心运行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E3F8E-285D-4FF9-A985-7B8DB9AB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B616F-09F2-4588-BB0B-D38F03BF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武清数据中心与同城数据中心同步承载核心售票业务。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04430-A4C0-4B91-981C-5D389BB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异地灾备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61082-A048-450D-A0EF-C62C7B44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767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95C2E-F1D5-44FF-91AA-60691072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529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灾备中心复制关键业务数据，在区域故障时提供恢复能力。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4BE52A-E6D3-46B4-AA0B-7175FF23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多网接入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495F6-1F1E-4CAC-8EAE-81865920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AFDD6-88D7-4D39-994A-0BE52582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816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铁路专网连接站内终端，移动网络服务互联网与移动终端。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B9AED1-E1AA-44BD-835E-D083D877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042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图示来源：用户提供的《铁路客票系统7.0架构设计》相关资料</a:t>
            </a:r>
          </a:p>
        </p:txBody>
      </p:sp>
    </p:spTree>
    <p:extLst>
      <p:ext uri="{BB962C8B-B14F-4D97-AF65-F5344CB8AC3E}">
        <p14:creationId xmlns:p14="http://schemas.microsoft.com/office/powerpoint/2010/main" val="77048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86968-C9C0-4F93-A3E7-0B125E15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A0E24-CE7A-4E99-9B66-0DFA271C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8EAA3-1217-4D2E-BF04-0EBFEFAD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E4D7E-6ED1-473C-9389-FAD7614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E3D27-A991-4DEF-AB50-E7590DCF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0A831-26ED-43C7-BDCA-A714A748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B2382-E0BE-4B86-A1DC-E0E85247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5F328-22CE-4B6C-9B47-9D1A9DD49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c3831725d4720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E4CAB-6287-4B6F-AC23-2F609B6F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D5647-96FA-4666-AB22-BA39793B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911AE-CE6A-4A4C-AC4A-C086677B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F26F7-8B26-4B9B-8B2D-A3272119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FFEA6-F03E-4870-8B0E-5E7479FE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C59D7-CB72-4694-850B-C8132D7F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16AE9-7968-4795-A637-6D39498F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E86D8-925E-48DE-A94F-26277E70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999A7-B47E-4645-8F17-65D337A8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2B94A-FC6F-4EDD-BA5C-AEB40D5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客票系统的多数据库协同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BA7C4-1827-43E1-AE20-2F0D3028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D740E-6280-4B3A-ACF4-E67DF8E6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不同业务对数据模型和访问模式的要求不同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F22F0-B0C3-4DFC-91D6-2A8E7C85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720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A185C-B3BF-404B-ACBB-95E1376A6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ee72cd3724d38"/>
          <a:stretch xmlns:a="http://schemas.openxmlformats.org/drawingml/2006/main"/>
        </p:blipFill>
        <p:spPr>
          <a:xfrm xmlns:a="http://schemas.openxmlformats.org/drawingml/2006/main">
            <a:off x="914400" y="2569039"/>
            <a:ext cx="4743450" cy="2386673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D1784-09D0-4CB2-B459-3B1CD91C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52197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7BA39-0ED7-48F8-8B8F-E69AE693C5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7c52a320c4c63"/>
          <a:stretch xmlns:a="http://schemas.openxmlformats.org/drawingml/2006/main"/>
        </p:blipFill>
        <p:spPr>
          <a:xfrm xmlns:a="http://schemas.openxmlformats.org/drawingml/2006/main">
            <a:off x="6499860" y="2305050"/>
            <a:ext cx="410718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D87CC-79CF-4237-93B0-28BC63D4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业务查询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FF5C35-9F37-46E0-B1DD-8759DEF9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912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交易型数据库负责订单与余票等强一致数据。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2B7E3-85A0-4F98-8EDC-F82C2601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场景细化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C8F0C-6A52-4497-8917-2E46197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91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缓存、分析、图搜索与大数据存储按业务需求拆分。</a:t>
            </a:r>
          </a:p>
        </p:txBody>
      </p:sp>
    </p:spTree>
    <p:extLst>
      <p:ext uri="{BB962C8B-B14F-4D97-AF65-F5344CB8AC3E}">
        <p14:creationId xmlns:p14="http://schemas.microsoft.com/office/powerpoint/2010/main" val="1622205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EE830E-6F3D-4A02-A7C2-8F2D8E38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75F1-EC63-40B3-8DF3-0221E7EF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87ACC-7970-4577-B8CD-492BEAD6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23CE0-173F-41FA-A556-D0168972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C629C-CBAA-4351-8582-F01051A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67230-BABE-4C34-BE36-AF85E059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E988E-541A-4509-AF83-00F55B89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86E79-BFFC-4B62-A5EA-D88749A5CF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bb28449fd43a4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C296C-7E33-45C0-A20D-E02AED71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1A783-D20B-4787-9AC7-DAE0542E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2894A-BA5E-4017-9F93-51F977E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19ED8-45E7-4FA0-920F-97550602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A9A42-920A-4BF7-8DC2-32144951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2B470-3AFE-48F6-AAA2-13C7781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86F90-F1F2-47E8-8167-6B3493F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1AD80-DA41-4474-9A17-E3AAEC55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0FB29-65B0-4858-89E3-160E63A5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A70CA-A637-422C-A3BC-28239B80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项目分层架构与数据规模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1331D-9B3F-4040-9DDD-3E9076D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5DF83-8441-4FA2-8CF7-479CDE76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645795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AAB3D-2927-4011-9AED-8DAC961B1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d6c78de7a4efd"/>
          <a:stretch xmlns:a="http://schemas.openxmlformats.org/drawingml/2006/main"/>
        </p:blipFill>
        <p:spPr>
          <a:xfrm xmlns:a="http://schemas.openxmlformats.org/drawingml/2006/main">
            <a:off x="914400" y="2186368"/>
            <a:ext cx="6229350" cy="3399665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0C2F8-FB0F-483F-843F-C9AD90BF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4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三类数据库各司其职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8ED7A-A3C4-476D-88B6-BC2BFC6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A973F-C99B-42D1-8D0E-60427FA3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33BEB-26E3-4045-ABF3-BC71845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保存订单、支付、运行实例和席位库存，是交易权威数据源。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676748-9CC0-49C8-A441-6C49A8D5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B7F03-E433-463F-A0C3-B71E0CC8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230F1-82DA-4E14-A925-DF991AB6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把车站与运行区段建模为图，搜索一次换乘候选路径。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E834E4-D8EC-469B-819C-9A648240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B2CB2-216E-404C-9AF5-AE3BC47D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AA0BA5-6A2E-4731-BEF9-CB81E1E4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仅承担任务唤醒与瞬时流量缓冲，持久状态仍回写MySQL。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D7E3B-6724-4C19-8156-3CE4375A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19700"/>
            <a:ext cx="81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394EF2-0BA3-4554-BB27-AF077D5B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292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CC570C-6BE3-4CBE-B0DA-75649D42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1,798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0C30A1-0352-48FE-A6EA-A23FD064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29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车次与运行实例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723FEA-EA6D-4CFC-897A-075C40FE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2197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44万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D0BC4F-6088-4D72-98D8-CCA7A551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29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席位库存记录</a:t>
            </a:r>
          </a:p>
        </p:txBody>
      </p:sp>
    </p:spTree>
    <p:extLst>
      <p:ext uri="{BB962C8B-B14F-4D97-AF65-F5344CB8AC3E}">
        <p14:creationId xmlns:p14="http://schemas.microsoft.com/office/powerpoint/2010/main" val="440310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20B78A-4B42-4931-ADDF-B6C612C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2AD40-CEA8-4B82-A825-1AA5E7E1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CA5CE-D1C1-45C5-BC92-81A929C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75807-6E49-4F61-B1C4-201BF0D4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BA20F-66E2-4A5B-98B6-6C8EC6C4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90D4C-4C4C-4F90-A352-B9D4317C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E0C56-51CF-4596-B6C3-BCA94D29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12969-5789-4A77-A6E5-DC72379842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117497d304b9c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A46A7-BC23-4203-9B7C-0AFCE96B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620D9-2A17-4D66-85BD-AB19DE9B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55BBB-A0B9-48DE-8885-EFEA8808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4B6A9-256A-45D0-AA47-9C0DD5EC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BC6D1-E964-448C-87F3-62A86345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0653B-7200-4CB7-9603-CF3B09A7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A0BAA-5AA3-4EFA-BCED-F55A8372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7B207-CE8B-49C0-B814-5D45D0BD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4231B-DF66-49F2-B0EA-E6E290D2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F49EC-CC42-46BF-9680-23C6316F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核心ER模型与关系拆分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C7B5E-400C-41D0-8C24-58A6766A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E32EC-F3C4-47BE-874C-E81AB985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关系模型围绕三个领域展开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0F06F-6207-4038-8C13-20D967A6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78DED-FB63-4C4B-8A22-694C562C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6EBD2-045C-413F-B8D7-60F4CBFB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铁路运行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EE0A6-F9E6-4BCB-B550-B57D7B52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051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车站、车次模板、停站记录和每日运行实例描述列车如何运行。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4A899-C710-4DBF-8C92-17F35B59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59567F-296A-43BE-8E43-49FCBCAF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C946E-4510-4EF8-BBEA-A3882093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区间库存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9169C-245F-45F2-A033-DDA54A30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957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运行座位、票价、座位分配与占用位图共同描述可售能力。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2250FC-C2A6-468B-BEBD-8B011D14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1859AA-714F-43AD-90F4-944FE21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0CD89-25F7-4FF2-B649-AA39CF11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用户交易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33B448-7D0A-4638-B5F7-D229E352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863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订单主体、订单明细、支付记录和候补请求保持状态可追踪。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8856CA-8036-4FB5-8870-61353E54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3714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6B13B0-D195-4FD0-96D9-82CBD77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21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关键拆分：车次模板与每日运行实例分离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BC7B7C-66C9-444F-99A6-6FC252AF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61531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0EA16E-403F-484C-970D-A419D11CF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463d3e31d4ace"/>
          <a:stretch xmlns:a="http://schemas.openxmlformats.org/drawingml/2006/main"/>
        </p:blipFill>
        <p:spPr>
          <a:xfrm xmlns:a="http://schemas.openxmlformats.org/drawingml/2006/main">
            <a:off x="5124450" y="2285709"/>
            <a:ext cx="5924550" cy="3334331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1400812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AED903-029E-45EB-BF3D-AFB4FCA2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EB377-DD6F-4EA4-926B-FE8CEDF2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40C09-CA88-4B4B-AA19-0A9C64CE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6EF96-8188-4B4E-9BB3-42F372EC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32B8A-BDF8-463F-B996-997AD30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EFD37-8B01-4E09-A23A-52F46C45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CFA2C-1102-4D0A-9A10-AE4B87B6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39965-2D07-448C-AC0E-2AB0DC1A21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110d52eb54750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D3131-37AA-4DEF-BAC5-632B1552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01FAB-E619-4B16-AD39-ABA0E7F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A6A8-246F-4AB4-9711-05DA7B93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7F3FC-76ED-4E71-812D-19F15DA7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72028-3659-4A7F-ABDC-9A0693D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38BDF-DD45-4881-BD9E-75162A4A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317B5-89A1-4A5F-A7CC-01EBBE4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E5541-C26E-4470-9210-551C91CF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4F6D3-4E5C-420C-B705-6C08EBFA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08C31-F5CB-4821-A1E0-258B087B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Python服务层与Neo4j换乘搜索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A3CE8-C21C-4AFD-8FBB-91AD4AF9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2CB8F-B0F0-4EB7-A099-6E9AD6BB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Python负责流程编排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6914B-03E4-498D-8B6A-DAD22DE4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D58F3-21CE-4B2E-A6D0-3CE1972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直达查询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2E0A0-C928-4233-9AB4-1ECCDE72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MySQL按起终站顺序、运行日期和实时库存直接筛选。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DB0C4-FCE9-4400-924F-BEC5D4CE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EB183-DB60-4548-A9C5-44795AE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57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一次换乘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15C58-FC1C-4992-B570-F9D85A83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Neo4j先找候选路径，再由MySQL校验时刻、票价与库存。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0729D-B8B6-471A-A034-3E4BC9B7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463E9-A17E-4BB3-9484-53AE5256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482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职责边界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A898B-C290-4B20-955B-7D961368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720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图数据库负责找路，关系数据库决定方案能否出售。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CB1650-CC59-43E1-B658-D3DF4BA6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3714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272D4F-B0AE-4189-AE94-8ECF610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21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HTTP接口　参数校验　事务调度　后台任务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9811BC-9D57-4C2B-AD0D-016ED77F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61531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71992E-F081-47DA-877F-E989002FD8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a0ed3fdcb454d"/>
          <a:stretch xmlns:a="http://schemas.openxmlformats.org/drawingml/2006/main"/>
        </p:blipFill>
        <p:spPr>
          <a:xfrm xmlns:a="http://schemas.openxmlformats.org/drawingml/2006/main">
            <a:off x="5124450" y="2402913"/>
            <a:ext cx="5924550" cy="3099924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1923255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16226E-E70E-4350-8B75-237891CA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6DC08-5E31-4A92-91D6-36C8D532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ED811-5AF2-4A10-AA9C-5269B9B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8987A-C054-4F34-AA33-8492F7BB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BA930-C935-4720-B79D-990638E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E3FD5-AA06-4FCA-8F16-1982BAB9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91CB6-AB34-4EAF-AF7C-1E4B95B7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4B85B-4D6E-444D-8730-59081FC79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11a7efe3c4dbf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65E64-391E-475A-83DE-36E72B2D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AE240-56D9-4852-B1D3-09276973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8E14F-1C71-4E57-B152-486C7CA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C2F6F-546A-499E-A1A1-D97CEFC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063DD-A91C-4353-8A7D-DD8F8B52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85F9A-3219-4727-A0B9-571FD950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81571-978D-4156-9B2C-09437521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6A893-2629-47C4-8A22-A72B89EC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3E603-290C-40E6-B919-D02D1FB4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1DC56-CB5F-43D7-9E99-3658BCC1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区间位图与席位复用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4E23A-28A0-4E6F-B91D-E95B5A97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2512D-FEFE-4E13-BA89-8FDA72E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62293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7AC23-81ED-4044-A1E0-70966AEEE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25818472040a9"/>
          <a:stretch xmlns:a="http://schemas.openxmlformats.org/drawingml/2006/main"/>
        </p:blipFill>
        <p:spPr>
          <a:xfrm xmlns:a="http://schemas.openxmlformats.org/drawingml/2006/main">
            <a:off x="1088237" y="2066925"/>
            <a:ext cx="5653075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9330E-CDE7-4478-8CAB-EB0DD2A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一个整数表示整条线路的占用状态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869C3-E8DD-4DAD-A01F-9E66F6B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C0339-EA57-4ED8-8299-4CD35BB0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670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D0A17-923E-493B-88BF-DB0B397A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区间编码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29452F-7FF2-4AEA-B151-42F28A7C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277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相邻车站之间的区段映射为二进制位，运行座位用BIGINT保存占用位图。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E83AB-BE25-4074-B0A8-4E8F11FD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F7D72-5E13-4D97-B401-4E6F1558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576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40EBDA-1F58-4152-BF3A-040038FF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冲突判定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80BA82-B5DE-4DA5-9393-1606946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请求位图与占用位图按位与。结果为0时，所选区间没有重叠。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BB67F-64F0-452D-AAC2-D0B3D0F4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57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469EED-F710-41C2-9B3F-9EC45E0D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482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7F1D04-423F-4CED-9A80-2DE98D6C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更新规则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D6A8B9-FEC0-42E8-A9D4-18A60A60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3397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购票执行按位或，退票执行按位与非，只修改相关区间。</a:t>
            </a:r>
          </a:p>
        </p:txBody>
      </p:sp>
    </p:spTree>
    <p:extLst>
      <p:ext uri="{BB962C8B-B14F-4D97-AF65-F5344CB8AC3E}">
        <p14:creationId xmlns:p14="http://schemas.microsoft.com/office/powerpoint/2010/main" val="448421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E6566F-B8FD-41CD-87CF-EE567ECA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4BC62-A97D-4204-BD6A-0E19CE24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7B1E2-DD80-445B-B89D-415960A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08F96-C8D3-4E5B-889A-48531614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50BD8-9578-4802-8353-2921F4B8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B3BDA-7D01-4A05-8F17-CF2944F0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ACD50-A8C1-4020-9AD1-21AFEE02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2E5F-2EF4-44F9-B77D-9F8DBFFB8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ddcb27ec94067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EE782-2853-459F-9E36-2E4795A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BB059-3CEC-49CA-AEC4-AE1EAEFC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26993-1E48-4629-AC2B-FB42620E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CEF74-66FD-449C-A069-A4864658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397D4-EE56-4137-A946-D28FD3F0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705B6-BD51-4F72-B073-908AFAE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C5BDB-0EED-4735-945A-54306E5A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A45E6-980A-489F-9025-89CACFDD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C3583-4CD0-4E99-B681-18EA0F13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103C1-D2DD-47FD-8233-76CAB306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并发购票与事务行锁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D2914-5218-4D69-AF3F-1302CE71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D9D83-E6BB-4106-9684-43EA3F3E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最后一张票只允许一个事务成功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C8CB5-7FCB-4406-9957-D55DF78D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C9AC4-D4EF-427D-A0CC-2FE3171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锁定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B4970-A9D9-4E77-BAF8-141ADA8E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622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SELECT ... FOR UPDATE锁定候选座位，阻止并发修改。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118FE-433A-46A9-9BCE-8A8F0B6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5E935-E3DA-49A4-9573-21255155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73A95-0AE6-4CC2-9E88-FB00C89F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获得锁后重新计算位图，消除查询与写入之间的时间差。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0C88A-DB6C-42DD-90BF-787B985C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C8EAC-7EAE-48CE-A57A-4B537836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6F070-50F6-48DB-9720-EDA4E0E2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672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订单、座位分配和库存更新在一个事务内原子提交。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148ED-F22F-4495-A50D-3DD56F5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61531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E6A4E-1DC8-4132-A15D-DA9766ED15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24bc406034605"/>
          <a:stretch xmlns:a="http://schemas.openxmlformats.org/drawingml/2006/main"/>
        </p:blipFill>
        <p:spPr>
          <a:xfrm xmlns:a="http://schemas.openxmlformats.org/drawingml/2006/main">
            <a:off x="5124450" y="2403607"/>
            <a:ext cx="5924550" cy="3098536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6394246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1524FD-16CD-4B44-A389-070AF19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1BA7D-BFAC-457C-AFBD-650CC423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55E63-0503-4486-B2CE-03EF1776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7EC40-4CAE-46FB-8688-F36FC113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21525-19BB-4A1B-8FE0-384952A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67E7E-89A2-461A-B8D5-B855AEF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46D38-415B-4001-863D-F2B6B8EE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89664-6C40-400F-9EC9-7EB18B40EE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323f32acd497d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21F2A-776C-4F28-86A3-CD86EAB0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D6FAA-6365-42CE-B98B-C1F66440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30143-FBD3-405B-B69E-D76844E9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2E8EA-35D4-45FA-990E-3D1CABAD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8E925-A561-454F-A29A-BC76AB1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9E382-8D3F-4E16-9130-4583E27F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F8911-D83C-4908-A8DD-B1951595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59086-5001-4686-84B2-D93C01D2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C8CA8-2C46-49F7-9935-39944E6A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BEAD3-649A-4939-9F5D-B14D6BB7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持久化订票缓冲与Redis唤醒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F16E3-351A-450A-AA8E-94710311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6DB5E-3675-4EFB-B843-20C8B24A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62293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E34FA-1909-4113-B963-C4D761DF4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062fa524a4d8e"/>
          <a:stretch xmlns:a="http://schemas.openxmlformats.org/drawingml/2006/main"/>
        </p:blipFill>
        <p:spPr>
          <a:xfrm xmlns:a="http://schemas.openxmlformats.org/drawingml/2006/main">
            <a:off x="914400" y="2485093"/>
            <a:ext cx="6000750" cy="2935564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40A6C-9745-4D72-88DB-46217B62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削峰与可靠性同时成立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7E895-9D6C-4667-9D21-9BF0CF66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权威数据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80895-75BE-421A-95FC-906E1126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5752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545D3-7FA7-4670-9CC8-52450D0D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订票请求先进入MySQL持久缓冲表，服务重启后仍可继续处理。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EB0FF-3580-44F6-9AC6-7993EF8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快速唤醒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793B6-68FF-4E05-8D1C-3CEF65DF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A31D1-F8C4-4E6C-A040-5E90F2A8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Redis发布轻量信号，让后台线程及时领取任务。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F68FE-A6B3-489D-B9AD-AD403317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053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降级机制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B721A-5350-418D-A69C-72C1FBFE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3872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E1711-91F6-4E98-A0C9-477DE2BF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86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Redis不可用时回退到MySQL轮询，任务不会丢失。</a:t>
            </a:r>
          </a:p>
        </p:txBody>
      </p:sp>
    </p:spTree>
    <p:extLst>
      <p:ext uri="{BB962C8B-B14F-4D97-AF65-F5344CB8AC3E}">
        <p14:creationId xmlns:p14="http://schemas.microsoft.com/office/powerpoint/2010/main" val="20034528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F726ED-38A0-4846-BDD6-6350FCDB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6B3D2-F17C-424E-9EB0-D0A32D7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E84F2-DC8A-49F3-86A4-74A80192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47206-7A4F-42C4-B399-C51F19DC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2ACC5-F663-4B4E-971F-DD8387B8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E4831-07FF-443E-9112-84442615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ABB06-8123-49A2-AB02-31F62EA8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B1B37-F0A5-4BBC-8980-CA7B85B781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53bad880341b1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2C0C1-05A2-4525-B6A7-C736E28F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D7ECD-69D2-4D08-9BFC-4CFA9EF1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7B24F-77F5-4C84-B568-4A1E1976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C5628-20EE-406E-948D-B7FA7FC6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AD668-532D-4335-BAA0-1DCD17DB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E2107-7CA3-4356-9C7C-C4C9C1C8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048F2-E6C3-49BE-898A-8B796E64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26945-C806-459F-ABD3-8C950414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21AE5-CFAC-4FD0-AF5B-83568F6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D6399-C34F-4EB7-94BF-30B4762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候补队列与自动兑现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1B180-6504-4F48-84AB-86436199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233C1-4EC1-483E-B99B-23CA12D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2472B-5A91-4FA5-80EA-1ABE5F67B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6e51f18a94928"/>
          <a:stretch xmlns:a="http://schemas.openxmlformats.org/drawingml/2006/main"/>
        </p:blipFill>
        <p:spPr>
          <a:xfrm xmlns:a="http://schemas.openxmlformats.org/drawingml/2006/main">
            <a:off x="914400" y="2305226"/>
            <a:ext cx="6343650" cy="3295297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ABA65-0CBF-4751-96FA-06387AD0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有票后复用普通购票事务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FB933-258D-473A-AC57-F3AB251A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78410-C440-4BB0-9E40-307B0E0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E2082-EB87-4D79-A341-30E474EC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候补申请先支付并写入MySQL，记录区间、席别与创建时间。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C6ED1-A06E-4B89-B1AC-3F63321F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719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A984F-7EFE-4C75-BBDA-265C8462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719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07744-3231-49AE-A2F7-BB12CC34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3380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退票释放库存后立即匹配，后台线程同时执行补偿扫描。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DD90BA-8721-4681-B75E-9C4193E5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625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27760-9458-4750-BFB7-DE7C1CF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62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兑现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EBECE3-655B-40FD-B66B-0B1D398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2440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匹配成功后复用普通购票事务，占座并更新订单状态。</a:t>
            </a:r>
          </a:p>
        </p:txBody>
      </p:sp>
    </p:spTree>
    <p:extLst>
      <p:ext uri="{BB962C8B-B14F-4D97-AF65-F5344CB8AC3E}">
        <p14:creationId xmlns:p14="http://schemas.microsoft.com/office/powerpoint/2010/main" val="11567723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FE6D1C-9FF5-4FCE-AF03-AC310D3E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A8EF0-9454-4E89-8645-0A8C1F27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B82EC-A63B-4415-8BB7-6B8339B4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F9A6E-78D7-463A-B410-A410B14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BEC6E-7C81-4206-94EE-5A7F8D49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29F7E-301A-4DFC-8FD8-A43DF5DF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8387C-7072-4B74-A10A-113FCF12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CCF0C-2875-45AC-B245-FF438A8182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3c0ff70254010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92684-A77E-4144-822C-6B2330B9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3B846-654B-4481-AE8D-8C287E79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57548-F334-4648-9BA4-B3757590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D40CC-11A0-4C6E-8F39-2E9CC2C2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D8E90-0B91-48DE-806D-5148C16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6DD1E-4FC2-4FD8-8095-E34435E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A8658-BA09-43FE-910A-AE21FDDC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8409B-D6C0-4F16-B19B-C6DF9BDD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0F6D1-1690-4D0F-9C32-FE576D5C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D7C9D-3AB2-454F-A04B-DE25561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系统实现效果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C29BC-A3CF-4D5E-98C3-60562ADE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BEE32-3136-4018-8C00-E4193F9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用户端购票流程与管理端候补队列均已实现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F43EE-E72E-469A-ABCB-86AA457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659130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64B0A-2ED6-494B-BAD2-8DD2D9843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1962875ca42b1"/>
          <a:stretch xmlns:a="http://schemas.openxmlformats.org/drawingml/2006/main"/>
        </p:blipFill>
        <p:spPr>
          <a:xfrm xmlns:a="http://schemas.openxmlformats.org/drawingml/2006/main">
            <a:off x="914400" y="2281431"/>
            <a:ext cx="6362700" cy="3285738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314EE-8EEF-4E54-A6E3-D3180C4C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D7EFEE-AF8B-4BE6-A796-AC02DEB3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候补队列实时监控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8E48C-D04B-4D5C-8DD9-481207CB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3562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DA3BF-8747-4BF1-AF12-3D15398E79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6967a0b2f442f"/>
          <a:stretch xmlns:a="http://schemas.openxmlformats.org/drawingml/2006/main"/>
        </p:blipFill>
        <p:spPr>
          <a:xfrm xmlns:a="http://schemas.openxmlformats.org/drawingml/2006/main">
            <a:off x="7971099" y="2257425"/>
            <a:ext cx="2822051" cy="1457325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3081F3-663A-4095-BD4F-331D0EB6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车次与实时余票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BD39B-F27F-4BC5-82A2-4A6E67F5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67175"/>
            <a:ext cx="3562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FA942-1A83-436C-A12D-78EBA7892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d8cc79bfc42c7"/>
          <a:stretch xmlns:a="http://schemas.openxmlformats.org/drawingml/2006/main"/>
        </p:blipFill>
        <p:spPr>
          <a:xfrm xmlns:a="http://schemas.openxmlformats.org/drawingml/2006/main">
            <a:off x="7971099" y="4181475"/>
            <a:ext cx="2822051" cy="1457325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93393F-EF2F-45B6-9B09-308CD6A6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62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订单完成与电子车票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ED8E6B-D63A-423B-89FF-C36881F1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042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课程实验模拟售票系统，非中国铁路12306官方购票渠道</a:t>
            </a:r>
          </a:p>
        </p:txBody>
      </p:sp>
    </p:spTree>
    <p:extLst>
      <p:ext uri="{BB962C8B-B14F-4D97-AF65-F5344CB8AC3E}">
        <p14:creationId xmlns:p14="http://schemas.microsoft.com/office/powerpoint/2010/main" val="1311111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2026-10-12T14:44:31.0860000Z</dcterms:created>
  <dcterms:modified xsi:type="dcterms:W3CDTF">2026-10-12T14:44:31.0860000Z</dcterms:modified>
</coreProperties>
</file>
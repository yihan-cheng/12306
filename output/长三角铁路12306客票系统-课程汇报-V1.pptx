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8350199e304fa1" /><Relationship Type="http://schemas.openxmlformats.org/officeDocument/2006/relationships/extended-properties" Target="/docProps/app.xml" Id="R925e4d1b72cb475d" /><Relationship Type="http://schemas.openxmlformats.org/officeDocument/2006/relationships/officeDocument" Target="/ppt/presentation.xml" Id="R4b8dacaa13e74b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0ff06aa57a49d5"/>
  </p:sldMasterIdLst>
  <p:notesMasterIdLst>
    <p:notesMasterId xmlns:r="http://schemas.openxmlformats.org/officeDocument/2006/relationships" r:id="R8bc963204a164c2a"/>
  </p:notesMasterIdLst>
  <p:sldIdLst>
    <p:sldId xmlns:r="http://schemas.openxmlformats.org/officeDocument/2006/relationships" id="256" r:id="Rad1102e9c50a4a16"/>
    <p:sldId xmlns:r="http://schemas.openxmlformats.org/officeDocument/2006/relationships" id="257" r:id="R5cd9801e1ce44549"/>
    <p:sldId xmlns:r="http://schemas.openxmlformats.org/officeDocument/2006/relationships" id="258" r:id="Rf4e2e13f3c0144bc"/>
    <p:sldId xmlns:r="http://schemas.openxmlformats.org/officeDocument/2006/relationships" id="259" r:id="R6711dffd904b407a"/>
    <p:sldId xmlns:r="http://schemas.openxmlformats.org/officeDocument/2006/relationships" id="260" r:id="R5acc927518364944"/>
    <p:sldId xmlns:r="http://schemas.openxmlformats.org/officeDocument/2006/relationships" id="261" r:id="Re8aa9eafa23145a0"/>
    <p:sldId xmlns:r="http://schemas.openxmlformats.org/officeDocument/2006/relationships" id="262" r:id="Rcfc9ab6a7de34049"/>
    <p:sldId xmlns:r="http://schemas.openxmlformats.org/officeDocument/2006/relationships" id="263" r:id="R9de1386804dd4236"/>
    <p:sldId xmlns:r="http://schemas.openxmlformats.org/officeDocument/2006/relationships" id="264" r:id="Rf8aa5476f48b4c9b"/>
    <p:sldId xmlns:r="http://schemas.openxmlformats.org/officeDocument/2006/relationships" id="265" r:id="R66574ce918e2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2a791e5dd4391" /><Relationship Type="http://schemas.openxmlformats.org/officeDocument/2006/relationships/slideMaster" Target="/ppt/slideMasters/slideMaster1.xml" Id="R280ff06aa57a49d5" /><Relationship Type="http://schemas.openxmlformats.org/officeDocument/2006/relationships/notesMaster" Target="/ppt/notesMasters/notesMaster1.xml" Id="R8bc963204a164c2a" /><Relationship Type="http://schemas.openxmlformats.org/officeDocument/2006/relationships/presProps" Target="/ppt/presProps.xml" Id="Ra0ed0d3c62354974" /><Relationship Type="http://schemas.openxmlformats.org/officeDocument/2006/relationships/tableStyles" Target="/ppt/tableStyles.xml" Id="R190b2cd35e844dc5" /><Relationship Type="http://schemas.openxmlformats.org/officeDocument/2006/relationships/slide" Target="/ppt/slides/slide1.xml" Id="Rad1102e9c50a4a16" /><Relationship Type="http://schemas.openxmlformats.org/officeDocument/2006/relationships/slide" Target="/ppt/slides/slide2.xml" Id="R5cd9801e1ce44549" /><Relationship Type="http://schemas.openxmlformats.org/officeDocument/2006/relationships/slide" Target="/ppt/slides/slide3.xml" Id="Rf4e2e13f3c0144bc" /><Relationship Type="http://schemas.openxmlformats.org/officeDocument/2006/relationships/slide" Target="/ppt/slides/slide4.xml" Id="R6711dffd904b407a" /><Relationship Type="http://schemas.openxmlformats.org/officeDocument/2006/relationships/slide" Target="/ppt/slides/slide5.xml" Id="R5acc927518364944" /><Relationship Type="http://schemas.openxmlformats.org/officeDocument/2006/relationships/slide" Target="/ppt/slides/slide6.xml" Id="Re8aa9eafa23145a0" /><Relationship Type="http://schemas.openxmlformats.org/officeDocument/2006/relationships/slide" Target="/ppt/slides/slide7.xml" Id="Rcfc9ab6a7de34049" /><Relationship Type="http://schemas.openxmlformats.org/officeDocument/2006/relationships/slide" Target="/ppt/slides/slide8.xml" Id="R9de1386804dd4236" /><Relationship Type="http://schemas.openxmlformats.org/officeDocument/2006/relationships/slide" Target="/ppt/slides/slide9.xml" Id="Rf8aa5476f48b4c9b" /><Relationship Type="http://schemas.openxmlformats.org/officeDocument/2006/relationships/slide" Target="/ppt/slides/slide10.xml" Id="R66574ce918e2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5f36910ce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b60620412e41f8" /><Relationship Type="http://schemas.openxmlformats.org/officeDocument/2006/relationships/notesMaster" Target="/ppt/notesMasters/notesMaster1.xml" Id="R09ef3aee5f5344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8951dd4934700" /><Relationship Type="http://schemas.openxmlformats.org/officeDocument/2006/relationships/notesMaster" Target="/ppt/notesMasters/notesMaster1.xml" Id="Rfb7e811d4613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09cfb886634e19" /><Relationship Type="http://schemas.openxmlformats.org/officeDocument/2006/relationships/notesMaster" Target="/ppt/notesMasters/notesMaster1.xml" Id="R447c2dde4279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472cfab8d46a8" /><Relationship Type="http://schemas.openxmlformats.org/officeDocument/2006/relationships/notesMaster" Target="/ppt/notesMasters/notesMaster1.xml" Id="Rb152342f95be41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a926fad844d23" /><Relationship Type="http://schemas.openxmlformats.org/officeDocument/2006/relationships/notesMaster" Target="/ppt/notesMasters/notesMaster1.xml" Id="Re78452ac31a6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9b20a4a8b64165" /><Relationship Type="http://schemas.openxmlformats.org/officeDocument/2006/relationships/notesMaster" Target="/ppt/notesMasters/notesMaster1.xml" Id="R4d527ff78fde45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4e8c7ccf0243d4" /><Relationship Type="http://schemas.openxmlformats.org/officeDocument/2006/relationships/notesMaster" Target="/ppt/notesMasters/notesMaster1.xml" Id="R8d2269f4dddd4c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7b62e0573e4a4c" /><Relationship Type="http://schemas.openxmlformats.org/officeDocument/2006/relationships/notesMaster" Target="/ppt/notesMasters/notesMaster1.xml" Id="Rdf880d0efbfc4e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f89d4eb5664267" /><Relationship Type="http://schemas.openxmlformats.org/officeDocument/2006/relationships/notesMaster" Target="/ppt/notesMasters/notesMaster1.xml" Id="R3ead81bbca6a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5df09c7cc64e30" /><Relationship Type="http://schemas.openxmlformats.org/officeDocument/2006/relationships/notesMaster" Target="/ppt/notesMasters/notesMaster1.xml" Id="Re4242dad5b10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各位老师好，我们的项目是长三角铁路12306客票系统。我们参考真实12306的核心业务，综合运用数据库技术，重点解决铁路售票中的区间库存、并发购票和候补兑现问题。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12306面临巨大的交易压力。2026年中秋国庆运输期间，单日最高售票量达到2973.7万张；春运高峰访问量达到每秒百万次。与此同时，铁路座位还涉及区间复用、并发抢票和候补自动兑现。真实12306采用交易排队、分布式架构和动态余票计算等技术，我们也从这些问题出发设计自己的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数据经过清洗与裁剪，包含45个车站、1798个车次、约44万条座位库存及3.6万条票价记录。系统采用Python作为应用服务层，协调MySQL、Neo4j和Redis。其中MySQL是订单与库存的权威数据源，Neo4j负责换乘搜索，Redis辅助异步任务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根据铁路业务建立ER模型，将系统划分为铁路运行、区间库存与用户交易三个领域。其中车次模板与每日运行实例分离，每次运行拥有独立库存；用户、订单明细和座位分配也分别建模。这样减少冗余，并通过主外键、唯一约束保证完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Python负责HTTP接口、参数校验与流程调度。直达车次由MySQL直接查询；一次换乘先由Neo4j搜索候选路线，再把结果交回MySQL验证运行日期、换乘时间、票价和实时库存。Neo4j负责找路，MySQL负责判断能否出售。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一个座位出售上海到苏州后，仍然可以出售苏州到南京。我们把相邻站之间的区段映射为二进制位，每个运行座位使用BIGINT记录占用情况。按位与为零说明区间不冲突，占座时按位或，退票时清除对应位。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位图解决库存表示，并发购票还需要事务一致性。我们使用FOR UPDATE锁定候选座位，并在获得锁后重新检查位图。这样两个用户同时争抢最后一个座位时，后获得锁的事务会看到更新后的库存，不会重复出售。幂等键与状态机进一步避免重复下单和非法状态迁移。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我们将订票请求先持久化到MySQL缓冲表，再交给后台线程处理。Redis只负责快速唤醒工作线程，MySQL使用任务租约与SKIP LOCKED避免重复领取。即使Redis失效，也能回退到MySQL轮询，因此唤醒信号丢失不会导致订票请求丢失。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票用户的需求先持久化到MySQL。退票释放库存后，系统立即触发匹配，后台线程也会定期补偿扫描，并复用普通购票事务完成占座。项目还增加有限跳过与公平保护机制，在库存利用率和等待公平性之间进行权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最终，我们实现了从查询、购票、支付到退票和候补的完整业务闭环，并能够在管理端监控库存、订单及并发处理过程。接下来以G8359为例，演示一次从南通西到上海虹桥的模拟购票过程。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09d0ac2db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b509bef7b46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108bb9c7249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6efb34f654d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20d82e1e740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4a7338bd340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FC838-3714-4EFF-861C-8A5FE98C2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22F33A-E4C9-4BCD-B33D-2453AB355B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EB06B8-B4C8-4484-B3D5-94BC367C8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CB442-4478-4A13-966F-413C0A43A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05A709-6BFB-4CBD-A4FB-07E413270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B79DB9-1345-4174-8D58-D57AB5538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F27A94-38AB-407A-9B71-25976682A2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231C03-1254-4FD5-8706-E926520AF4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EB1226-529C-4D40-9450-515382777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7DB025-0672-4EF2-93B3-19BF6C17E4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085b4cedd84911" /><Relationship Type="http://schemas.openxmlformats.org/officeDocument/2006/relationships/slideLayout" Target="/ppt/slideLayouts/slideLayout1.xml" Id="Rd3cf71fcd6f84eea" /><Relationship Type="http://schemas.openxmlformats.org/officeDocument/2006/relationships/slideLayout" Target="/ppt/slideLayouts/slideLayout2.xml" Id="R9557b8d006a7463f" /><Relationship Type="http://schemas.openxmlformats.org/officeDocument/2006/relationships/slideLayout" Target="/ppt/slideLayouts/slideLayout3.xml" Id="R5e181ed97f9b4398" /><Relationship Type="http://schemas.openxmlformats.org/officeDocument/2006/relationships/slideLayout" Target="/ppt/slideLayouts/slideLayout4.xml" Id="R473c10a3f3414f12" /><Relationship Type="http://schemas.openxmlformats.org/officeDocument/2006/relationships/slideLayout" Target="/ppt/slideLayouts/slideLayout5.xml" Id="R6a102dd929364456" /><Relationship Type="http://schemas.openxmlformats.org/officeDocument/2006/relationships/slideLayout" Target="/ppt/slideLayouts/slideLayout6.xml" Id="R8c7eea3ccea84f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f71fcd6f84eea"/>
    <p:sldLayoutId xmlns:r="http://schemas.openxmlformats.org/officeDocument/2006/relationships" id="2147483650" r:id="R9557b8d006a7463f"/>
    <p:sldLayoutId xmlns:r="http://schemas.openxmlformats.org/officeDocument/2006/relationships" id="2147483651" r:id="R5e181ed97f9b4398"/>
    <p:sldLayoutId xmlns:r="http://schemas.openxmlformats.org/officeDocument/2006/relationships" id="2147483652" r:id="R473c10a3f3414f12"/>
    <p:sldLayoutId xmlns:r="http://schemas.openxmlformats.org/officeDocument/2006/relationships" id="2147483653" r:id="R6a102dd929364456"/>
    <p:sldLayoutId xmlns:r="http://schemas.openxmlformats.org/officeDocument/2006/relationships" id="2147483654" r:id="R8c7eea3ccea84f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a6bf8b67149bf" /><Relationship Type="http://schemas.openxmlformats.org/officeDocument/2006/relationships/image" Target="/ppt/media/image.png" Id="Rb487d545340541fb" /><Relationship Type="http://schemas.openxmlformats.org/officeDocument/2006/relationships/notesSlide" Target="/ppt/notesSlides/notesSlide1.xml" Id="Ra113674c628b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a3f854c604317" /><Relationship Type="http://schemas.openxmlformats.org/officeDocument/2006/relationships/image" Target="/ppt/media/image2.png" Id="R13e6a89c3e404a63" /><Relationship Type="http://schemas.openxmlformats.org/officeDocument/2006/relationships/notesSlide" Target="/ppt/notesSlides/notesSlide2.xml" Id="R2fd15d3fcdcc46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4a12f8403411b" /><Relationship Type="http://schemas.openxmlformats.org/officeDocument/2006/relationships/image" Target="/ppt/media/image3.png" Id="R27c788958b7748ba" /><Relationship Type="http://schemas.openxmlformats.org/officeDocument/2006/relationships/image" Target="/ppt/media/image4.png" Id="R6f7a2b3a10d1404b" /><Relationship Type="http://schemas.openxmlformats.org/officeDocument/2006/relationships/notesSlide" Target="/ppt/notesSlides/notesSlide3.xml" Id="R8198744ff278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5aadaf421d48e2" /><Relationship Type="http://schemas.openxmlformats.org/officeDocument/2006/relationships/image" Target="/ppt/media/image5.png" Id="Rf2d257e354ed4766" /><Relationship Type="http://schemas.openxmlformats.org/officeDocument/2006/relationships/image" Target="/ppt/media/image6.png" Id="R584f0ab59a3b4762" /><Relationship Type="http://schemas.openxmlformats.org/officeDocument/2006/relationships/notesSlide" Target="/ppt/notesSlides/notesSlide4.xml" Id="R4813bdf3cdbe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9ff806f6548d7" /><Relationship Type="http://schemas.openxmlformats.org/officeDocument/2006/relationships/image" Target="/ppt/media/image7.png" Id="R0115ae01e2134b98" /><Relationship Type="http://schemas.openxmlformats.org/officeDocument/2006/relationships/image" Target="/ppt/media/image8.png" Id="R9a45cc38edf243ee" /><Relationship Type="http://schemas.openxmlformats.org/officeDocument/2006/relationships/notesSlide" Target="/ppt/notesSlides/notesSlide5.xml" Id="R0027323efa2643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3071a2480482b" /><Relationship Type="http://schemas.openxmlformats.org/officeDocument/2006/relationships/image" Target="/ppt/media/image9.png" Id="R32d2b679d10d4c37" /><Relationship Type="http://schemas.openxmlformats.org/officeDocument/2006/relationships/image" Target="/ppt/media/image10.png" Id="Rcc3e6e13b31543f3" /><Relationship Type="http://schemas.openxmlformats.org/officeDocument/2006/relationships/notesSlide" Target="/ppt/notesSlides/notesSlide6.xml" Id="Rac26d73701fd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358625b2e4e4e" /><Relationship Type="http://schemas.openxmlformats.org/officeDocument/2006/relationships/image" Target="/ppt/media/image11.png" Id="R7015a9a9c59e4eaf" /><Relationship Type="http://schemas.openxmlformats.org/officeDocument/2006/relationships/image" Target="/ppt/media/image12.png" Id="Rfb3202b6802a440f" /><Relationship Type="http://schemas.openxmlformats.org/officeDocument/2006/relationships/notesSlide" Target="/ppt/notesSlides/notesSlide7.xml" Id="Rc625db94a2b04d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c07cf6a83479a" /><Relationship Type="http://schemas.openxmlformats.org/officeDocument/2006/relationships/image" Target="/ppt/media/image13.png" Id="Rdf0caf3b6339422e" /><Relationship Type="http://schemas.openxmlformats.org/officeDocument/2006/relationships/image" Target="/ppt/media/image14.png" Id="R91074f2e031d4334" /><Relationship Type="http://schemas.openxmlformats.org/officeDocument/2006/relationships/notesSlide" Target="/ppt/notesSlides/notesSlide8.xml" Id="R8479f74d745e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94bb831b64898" /><Relationship Type="http://schemas.openxmlformats.org/officeDocument/2006/relationships/image" Target="/ppt/media/image15.png" Id="R2098f2e9a46b4c6b" /><Relationship Type="http://schemas.openxmlformats.org/officeDocument/2006/relationships/image" Target="/ppt/media/image16.png" Id="R12d94fbb50934481" /><Relationship Type="http://schemas.openxmlformats.org/officeDocument/2006/relationships/notesSlide" Target="/ppt/notesSlides/notesSlide9.xml" Id="R7179c7e3ce374f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07cee1edd4c87" /><Relationship Type="http://schemas.openxmlformats.org/officeDocument/2006/relationships/image" Target="/ppt/media/image17.png" Id="R9377f87b1b9b4168" /><Relationship Type="http://schemas.openxmlformats.org/officeDocument/2006/relationships/image" Target="/ppt/media/image18.png" Id="Rf84189c8da814fcc" /><Relationship Type="http://schemas.openxmlformats.org/officeDocument/2006/relationships/image" Target="/ppt/media/image19.png" Id="R444ac7f7d6f04408" /><Relationship Type="http://schemas.openxmlformats.org/officeDocument/2006/relationships/image" Target="/ppt/media/image20.png" Id="R08b8703a88f94490" /><Relationship Type="http://schemas.openxmlformats.org/officeDocument/2006/relationships/notesSlide" Target="/ppt/notesSlides/notesSlide10.xml" Id="R060cba28f80942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C84A2-687E-41DD-9244-5437990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034D2-80C1-4F42-BD3D-B2AE0F8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271A-E9F5-44D2-A046-0D29B13D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A82F-C690-4245-9A99-5AE352EB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E1EBB-EE83-46F1-AEB9-58DB09C3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A8267-9335-4906-B6AB-AB2C1C7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E0BB-D25C-4C25-A85E-0C8734C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52197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8CF3A-BAEF-4798-9A0F-F90AB53F4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7d545340541fb"/>
          <a:stretch xmlns:a="http://schemas.openxmlformats.org/drawingml/2006/main"/>
        </p:blipFill>
        <p:spPr>
          <a:xfrm xmlns:a="http://schemas.openxmlformats.org/drawingml/2006/main">
            <a:off x="1066800" y="859579"/>
            <a:ext cx="895350" cy="4525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14FF5-0558-4A75-8A10-5E14329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295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06D4C-D9E2-42CC-BAE7-AB31B32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85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7E23C-064B-4D25-BFBB-91EE0444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长三角铁路12306客票系统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DB4B4-AE86-49D6-AE23-11EB7B75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基于多数据库协作的铁路售票系统设计与实现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C0FFD-B9CC-47DD-A4A6-C063361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572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5126E-172B-489C-B09D-A2B9439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0A3E-399E-428A-8915-E6BDA414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6FC0C-8218-4798-9CAB-55E410E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9EC37-C773-42DB-998E-2DA6033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B5504-5FA0-4250-9E3B-A3E7419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672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52F97-0AC1-43F1-B388-0572DD8C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6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76BAB-0025-4B56-AB38-FA2A78D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7E9FF-9189-4BC9-A34A-B53F88DD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1880D-77D5-4027-9CC4-6EE2996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19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数据库课程设计汇报</a:t>
            </a:r>
          </a:p>
        </p:txBody>
      </p:sp>
    </p:spTree>
    <p:extLst>
      <p:ext uri="{BB962C8B-B14F-4D97-AF65-F5344CB8AC3E}">
        <p14:creationId xmlns:p14="http://schemas.microsoft.com/office/powerpoint/2010/main" val="709988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CDA76D-486E-425D-8626-65A5CA9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986C6-1E18-47C1-B666-FD94B18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E3C27-EA9F-4AA9-BE0A-8E58C0A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8DD2F-827C-474E-9B0A-5DC4011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FF1FF-4D7A-468D-9722-AC0EEE89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1A58F-C4F4-4EAC-9E06-77EF19A2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DDB45-431C-4EAB-A490-25D6446A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E656F-F89D-460C-B74E-81275F422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6a89c3e404a63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EE41-A76B-46B5-BC3F-2435B49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F6952-AA6E-4B7D-AACA-0AE7A0F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9553B-0AD4-440E-A42B-03459F7E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F5059-4F88-41D4-8D04-735BCA24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2D16C-5843-46F7-BC45-7E01FD8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23825" cy="238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DED22-149C-4875-833E-C8C84F1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7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真实12306：海量交易背后的数据库挑战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71894-DDBE-4CE0-9711-248651C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13307-F5B4-4E45-AD89-D41EE7E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2,973.7万张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AB140-2AA1-4A27-B01A-5D74F60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2026年9月23日单日售票量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75B2D-FC28-4056-B33D-F8DF8DE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百万次/秒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707C2-EA20-40ED-B8D4-212B639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春运高峰访问量，非出票速度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2FB2C-DDA5-451F-BA47-D0B21C56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95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88487-9AF6-4213-B6FF-1EEB4D1E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规模不是唯一难点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B56D7-BEA4-464D-AD6A-B7BED23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请求洪峰、区间复用与库存回流共同作用，数据库必须同时保证吞吐量和一致性。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A22C1-0299-4B25-A71E-324659E9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D7BC5-290F-4136-9EBD-6EEC2115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1BCBC-2EDB-4518-804F-3BC54B9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海量访问与交易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1CC4A-758D-4F3F-A97A-22B8EA9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480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异步排队、分布式架构、多级缓存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EB63B-C814-4505-BDE5-42F00AAB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719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F9DF2-86E1-4F13-A9BF-CC0089C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936FA-81EE-4C8E-A288-D53F4AF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动态区间库存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A7AEB-1506-45BD-BD44-1999B719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291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余票计算、席位复用、事务锁定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C90D4-31A6-4FE7-AAA4-8FC87C1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529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3C2C2-6039-4D8A-8B00-6A200470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2911C-26F5-413D-8452-102B9EF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退票与候补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C453C0-50A9-4662-98C6-077E40A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01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库存释放后自动进入后续分配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EB57CD-26A9-49FD-8781-4B10E0E0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资料来源：公开报道；访问量与售票量采用不同统计口径</a:t>
            </a:r>
          </a:p>
        </p:txBody>
      </p:sp>
    </p:spTree>
    <p:extLst>
      <p:ext uri="{BB962C8B-B14F-4D97-AF65-F5344CB8AC3E}">
        <p14:creationId xmlns:p14="http://schemas.microsoft.com/office/powerpoint/2010/main" val="893740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87617-D322-4F3D-9C3B-E33BAA26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13E2B-59EA-401B-AA82-61403B26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05B4-0BB3-49BE-8691-07CC0B7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46E73-5ADE-4F5F-B2D0-6265BCC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CC96-E34A-4002-A57B-B26C0AA4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EBA1-8391-4FAF-BA7A-9F658B6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3CF45-3FE1-4D65-A036-BB48D4DE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CCEAD-B90D-423F-AC37-B7FA22596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788958b7748ba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983D4-F225-499C-B4CD-9DF0492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A300D-FCE0-4ECB-90AF-0C60B59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C6F9E-D81B-4DE2-A24D-D778532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BA4F5-F6EB-4DA3-AB39-78C2E4B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7E8CF-F233-428B-9749-892CABADF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a2b3a10d1404b"/>
          <a:stretch xmlns:a="http://schemas.openxmlformats.org/drawingml/2006/main"/>
        </p:blipFill>
        <p:spPr>
          <a:xfrm xmlns:a="http://schemas.openxmlformats.org/drawingml/2006/main">
            <a:off x="971550" y="1128798"/>
            <a:ext cx="10248900" cy="53719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9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2D3B7-5292-4E4B-8D39-AACE6F16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5A582-9E99-4FBE-9678-1107F94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5AE51-B56C-4C3F-94B2-C2010C7A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E65D0-2B46-47A7-9BFD-12803A08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E9E46-5E7B-4CF5-94F5-09AC6538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DDDCE-F500-4FBB-A0AA-86EDF92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062A0-4D6F-4867-8413-519DB287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F8A30-72C1-4285-95C6-D4583F180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257e354ed4766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E0FC2-B879-4961-8EA8-9502C99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64019-C0E1-4ACE-AC66-46A0733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C5278-9B65-4D46-AA14-67C8883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B80EE-D49C-4719-A6B3-8FC693D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D34C3-C046-48F0-9157-3018FF5A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23825" cy="238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4EBFF-CC80-459F-8174-5BE6216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7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数据库ER模型与关系设计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3D2B7-30E4-42F6-BD67-25C8622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83B6A-FA22-4E05-82A1-A9433FC1F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f0ab59a3b4762"/>
          <a:stretch xmlns:a="http://schemas.openxmlformats.org/drawingml/2006/main"/>
        </p:blipFill>
        <p:spPr>
          <a:xfrm xmlns:a="http://schemas.openxmlformats.org/drawingml/2006/main">
            <a:off x="920635" y="1876425"/>
            <a:ext cx="7531329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BF999-B588-433C-96D0-6B3376B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9525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0EAFD-3F77-4FBC-A9D2-698500D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9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621D4-4E11-47F0-8E09-BABDF9BD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14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三个业务领域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C5E62-C29C-42F3-93DF-F7345524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铁路运行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12AB2-2644-4976-855F-E45E2AF7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车站、车次、停站记录、运行实例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A7955-BA80-47FE-9BAF-C3447E6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BC73B-D18F-45F6-9435-ECAB852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22A96-60C2-410B-B64C-F26099EA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运行座位、票价、座位分配、占用位图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DC259-4009-46C1-808B-06782D1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B7000-B43E-440D-B01A-34898377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52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用户交易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B9B07-8520-49AD-A67B-176D19D7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386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用户、乘车人、订单、支付、候补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3AE22-8794-4D80-83E3-F1C37A6B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43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关键拆分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02B71-82DA-4DB2-AFBA-5EC9183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673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>
                <a:solidFill>
                  <a:srgbClr val="D95B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D95B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B0B"/>
                </a:solidFill>
                <a:latin typeface="Microsoft YaHei"/>
                <a:ea typeface="Microsoft YaHei"/>
                <a:cs typeface="Microsoft YaHei"/>
              </a:rPr>
              <a:t>车次模板 / 每日运行实例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D95B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B0B"/>
                </a:solidFill>
                <a:latin typeface="Microsoft YaHei"/>
                <a:ea typeface="Microsoft YaHei"/>
                <a:cs typeface="Microsoft YaHei"/>
              </a:rPr>
              <a:t>订单主体 / 明细 / 座位分配</a:t>
            </a:r>
          </a:p>
        </p:txBody>
      </p:sp>
    </p:spTree>
    <p:extLst>
      <p:ext uri="{BB962C8B-B14F-4D97-AF65-F5344CB8AC3E}">
        <p14:creationId xmlns:p14="http://schemas.microsoft.com/office/powerpoint/2010/main" val="1765186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D440E-945C-49F2-B615-EE44691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C72E9-A851-41F3-9EDE-4CC0FD7B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CA77C-4816-4010-9171-283D850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7C739-B08A-4AD6-9452-F044168D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7661D-CD37-4B6C-9B40-3DF2E13B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CBB7D-D991-4960-B0B3-B983BF6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1A75B-70A3-49E3-ADA3-824F710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F7C1A-B502-4406-A8D5-4949C8407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5ae01e2134b98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F3A40-FED5-4A08-8076-89E8889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A04F1-838B-479E-9FEB-3B8F0DD4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75D1E-54F7-4222-88C7-33D44A3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0A5CC-2801-4259-B86C-7F0D98D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2599C-9A0A-46C9-B50D-E671EDF3F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5cc38edf243ee"/>
          <a:stretch xmlns:a="http://schemas.openxmlformats.org/drawingml/2006/main"/>
        </p:blipFill>
        <p:spPr>
          <a:xfrm xmlns:a="http://schemas.openxmlformats.org/drawingml/2006/main">
            <a:off x="971550" y="1133478"/>
            <a:ext cx="10248900" cy="53625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7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C3C9F-609C-4D20-B72B-A8DEDBE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FEE9F-8D7B-4F99-9687-F627A71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86DAE-EDE7-4147-B631-354BD04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24C5-6869-42F1-908D-175F6CD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936FF-BB8A-4352-A57F-91092E6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C3C2-B856-4293-970E-630ECC1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CD633-5F68-4E02-BD4B-F828F291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20033-7A43-4F14-85BF-94FC3E2B9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2b679d10d4c37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F5049-F452-4F82-976F-F1FD993F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4C169-26F5-4663-9297-C1C52C85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15D05-3EA4-4600-983A-AAA0172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04CED-1DC3-4E0C-8909-43364E6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889EA-FA20-4132-9782-9F523C6AB8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e6e13b31543f3"/>
          <a:stretch xmlns:a="http://schemas.openxmlformats.org/drawingml/2006/main"/>
        </p:blipFill>
        <p:spPr>
          <a:xfrm xmlns:a="http://schemas.openxmlformats.org/drawingml/2006/main">
            <a:off x="1777678" y="933450"/>
            <a:ext cx="8636643" cy="576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67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1C3E2-9FCA-425C-8924-BE26D9D4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E9FFE-8A2F-402D-A61B-E04DEEA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02E1B-21BE-4F8A-ABEA-88A20AA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8F0DD-9A18-45FD-BBA2-4ADF572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DAE64-75AC-4987-8BFC-2050036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BD9D-3E48-4BAC-91E8-B16355AE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7A69-3336-40E8-B20E-C57C0F1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4DCD7-910B-4A0B-9F60-6DB8C2F86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5a9a9c59e4eaf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05BA-C61D-4736-A190-432CCCC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0248B-D94F-4732-B4AF-29E91606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75E61-A4DE-4D86-BC35-9D217222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1C0DA-B9ED-4B3B-800A-74BE26A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0F0E1-3859-4B72-AE6B-5534C3ED6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202b6802a440f"/>
          <a:stretch xmlns:a="http://schemas.openxmlformats.org/drawingml/2006/main"/>
        </p:blipFill>
        <p:spPr>
          <a:xfrm xmlns:a="http://schemas.openxmlformats.org/drawingml/2006/main">
            <a:off x="971550" y="1134678"/>
            <a:ext cx="10248900" cy="53601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63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C23BF-BB88-4F8E-BFF1-0B59FFC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52DA-D7E2-493C-847A-CEB0072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6FF9-8587-4D29-A4DB-F3488C93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CC79-EE88-4D97-AEEE-DA995E51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E1460-F85A-4F5B-9ED2-FEA18C3B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850DD-C567-4792-9468-99D47605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183FF-6E7A-4349-9259-EE8EAF7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ACDE-4A09-4DD0-AC2D-089E19D95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caf3b6339422e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C7BCE-1E51-44FF-9CCF-195A613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D3616-6B2E-4787-86AE-65323085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4E62D-A118-4FFF-9FE6-F4A9A60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DD859-0CE5-4525-BC8A-52B611C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1EC20-73FF-4375-96D9-DE0A64A09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4f2e031d4334"/>
          <a:stretch xmlns:a="http://schemas.openxmlformats.org/drawingml/2006/main"/>
        </p:blipFill>
        <p:spPr>
          <a:xfrm xmlns:a="http://schemas.openxmlformats.org/drawingml/2006/main">
            <a:off x="971550" y="1307884"/>
            <a:ext cx="10248900" cy="50137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98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51464-7AC3-49E0-ACA6-913DC86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2D9F-B09A-49A0-BE09-44CE7B6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9C257-DA11-4E6A-80D9-D5D526E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D526-68F9-4178-BD80-0C100F1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7FCF-0A92-4AFB-A4C4-2CDDEB3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160E6-85B7-4F8D-AC1C-82C0BE7B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0C0F8-99F6-435E-8997-77C84FB4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A3739-CDA2-4ACE-9352-8D5168D1F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f2e9a46b4c6b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2703-D934-4E99-A440-275E48B0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2A4F0-5B64-4084-9033-AE77BBC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6AE8C-2A4C-49E7-A983-3F7435EF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73BBA-A0C0-4E49-9C4A-435D185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66BC2-F825-4267-9E4A-C15BBA064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94fbb50934481"/>
          <a:stretch xmlns:a="http://schemas.openxmlformats.org/drawingml/2006/main"/>
        </p:blipFill>
        <p:spPr>
          <a:xfrm xmlns:a="http://schemas.openxmlformats.org/drawingml/2006/main">
            <a:off x="971550" y="1152795"/>
            <a:ext cx="10248900" cy="53239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6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2F94C-BE14-4B4A-805B-BB48822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02109-63D8-4686-B5EC-A379C8F0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-3381375"/>
            <a:ext cx="106680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D4B3A-20DF-4C53-9E92-94C47E9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4000500"/>
            <a:ext cx="1066800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7E6E3-6A7D-4A37-BFD6-19F1A92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5191125"/>
            <a:ext cx="9906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2AC0D-CC03-4D64-AB49-454FC50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076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3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7049C-BA87-405E-A5B2-A20CDD0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7155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A6C40-1DEB-4E83-AC92-D954022B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2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10992-6ECD-493B-9B65-A501B954D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7f87b1b9b4168"/>
          <a:stretch xmlns:a="http://schemas.openxmlformats.org/drawingml/2006/main"/>
        </p:blipFill>
        <p:spPr>
          <a:xfrm xmlns:a="http://schemas.openxmlformats.org/drawingml/2006/main">
            <a:off x="609600" y="327060"/>
            <a:ext cx="571500" cy="2888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A5028-A733-4588-B86D-B2E1510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0075"/>
            <a:ext cx="438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15AE0-3A6F-42BE-8976-56DDAA4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EE1EB-4DCF-4B17-907C-921AF7D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2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36057-92AD-41B0-AA7E-CB8541E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37031-7D75-4890-B400-6E02A096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23825" cy="238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D2B68-0CDB-49E7-946E-EDF68845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7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系统实现成果与现场体验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DF4F3-C137-4E9A-A2A5-E8C71A5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E25B5-5B2B-4101-B25B-5823B62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015A4-D553-40EB-AA7C-1C19D7C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真实系统截图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7B420-58C9-4097-87A8-445498AB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0289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19050">
            <a:solidFill>
              <a:srgbClr val="FFE7D5"/>
            </a:solidFill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362E6-3051-42BD-9DB9-73669757F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189c8da814fcc"/>
          <a:stretch xmlns:a="http://schemas.openxmlformats.org/drawingml/2006/main"/>
        </p:blipFill>
        <p:spPr>
          <a:xfrm xmlns:a="http://schemas.openxmlformats.org/drawingml/2006/main">
            <a:off x="952500" y="2476716"/>
            <a:ext cx="2876550" cy="1485468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420B0-A4F0-4B74-9607-6BC1AE6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车次与实时余票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38D5A-2847-4D6D-A615-9B3BAE68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81250"/>
            <a:ext cx="30289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19050">
            <a:solidFill>
              <a:srgbClr val="FFE7D5"/>
            </a:solidFill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ED441-BABC-4865-B3FE-6956243CD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ac7f7d6f04408"/>
          <a:stretch xmlns:a="http://schemas.openxmlformats.org/drawingml/2006/main"/>
        </p:blipFill>
        <p:spPr>
          <a:xfrm xmlns:a="http://schemas.openxmlformats.org/drawingml/2006/main">
            <a:off x="4086225" y="2476716"/>
            <a:ext cx="2876550" cy="1485468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59A69-E5A2-4553-A04D-E49934C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909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确认订单与选座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BEEF1-419D-4F4D-8D4D-89003FC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30289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19050">
            <a:solidFill>
              <a:srgbClr val="FFE7D5"/>
            </a:solidFill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D0CF2-B695-4942-B0E8-36A400997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8703a88f94490"/>
          <a:stretch xmlns:a="http://schemas.openxmlformats.org/drawingml/2006/main"/>
        </p:blipFill>
        <p:spPr>
          <a:xfrm xmlns:a="http://schemas.openxmlformats.org/drawingml/2006/main">
            <a:off x="7219950" y="2476716"/>
            <a:ext cx="2876550" cy="1485468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07068-D339-49B4-8388-D3A67736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909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购票成功与电子车票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52FDD-C3BB-4A7D-935F-8EE8A91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E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AFAF3-A770-4761-9BE9-884FE6F3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2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41F95-0589-4D82-B2D0-CCB1031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43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现场体验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BA58F-5181-45C9-9F3A-A95BE22A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G8359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894EF-0293-4F44-BF1E-2D82340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816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南通西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0121ED-3A00-4887-94B9-44B90CA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816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7F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572CF-2EAD-48C3-A260-CB0D453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上海虹桥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77E22-4D29-4B95-BE9B-E3DADB3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查询　选席　提交订单　模拟支付　查看电子车票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B5236-B7D8-46B5-8A4B-E835FD5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995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课程实验模拟售票系统，非中国铁路12306官方购票渠道</a:t>
            </a:r>
          </a:p>
        </p:txBody>
      </p:sp>
    </p:spTree>
    <p:extLst>
      <p:ext uri="{BB962C8B-B14F-4D97-AF65-F5344CB8AC3E}">
        <p14:creationId xmlns:p14="http://schemas.microsoft.com/office/powerpoint/2010/main" val="1483984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2026-10-12T13:21:07.0080000Z</dcterms:created>
  <dcterms:modified xsi:type="dcterms:W3CDTF">2026-10-12T13:21:07.0090000Z</dcterms:modified>
</coreProperties>
</file>
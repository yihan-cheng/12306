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7ebd43319445d9" /><Relationship Type="http://schemas.openxmlformats.org/officeDocument/2006/relationships/extended-properties" Target="/docProps/app.xml" Id="R7991ccd10cf94857" /><Relationship Type="http://schemas.openxmlformats.org/officeDocument/2006/relationships/officeDocument" Target="/ppt/presentation.xml" Id="Rd5df081afbe845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d202b289904ab4"/>
  </p:sldMasterIdLst>
  <p:notesMasterIdLst>
    <p:notesMasterId xmlns:r="http://schemas.openxmlformats.org/officeDocument/2006/relationships" r:id="R40511575957749bb"/>
  </p:notesMasterIdLst>
  <p:sldIdLst>
    <p:sldId xmlns:r="http://schemas.openxmlformats.org/officeDocument/2006/relationships" id="256" r:id="Ra0e8f7582a9f46f2"/>
    <p:sldId xmlns:r="http://schemas.openxmlformats.org/officeDocument/2006/relationships" id="257" r:id="Reb861e9b34a74e9a"/>
    <p:sldId xmlns:r="http://schemas.openxmlformats.org/officeDocument/2006/relationships" id="258" r:id="R8b8d93218e4f4ded"/>
    <p:sldId xmlns:r="http://schemas.openxmlformats.org/officeDocument/2006/relationships" id="259" r:id="R8f7d73d6aecf422e"/>
    <p:sldId xmlns:r="http://schemas.openxmlformats.org/officeDocument/2006/relationships" id="260" r:id="R315c747cb07d4a09"/>
    <p:sldId xmlns:r="http://schemas.openxmlformats.org/officeDocument/2006/relationships" id="261" r:id="Ra229eef110e848f1"/>
    <p:sldId xmlns:r="http://schemas.openxmlformats.org/officeDocument/2006/relationships" id="262" r:id="Re5e75f207b74447b"/>
    <p:sldId xmlns:r="http://schemas.openxmlformats.org/officeDocument/2006/relationships" id="263" r:id="R060b1db230834dcb"/>
    <p:sldId xmlns:r="http://schemas.openxmlformats.org/officeDocument/2006/relationships" id="264" r:id="Rb2890e59647a48a5"/>
    <p:sldId xmlns:r="http://schemas.openxmlformats.org/officeDocument/2006/relationships" id="265" r:id="R7cbbb9829aae4e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1e585072134d9c" /><Relationship Type="http://schemas.openxmlformats.org/officeDocument/2006/relationships/slideMaster" Target="/ppt/slideMasters/slideMaster1.xml" Id="Rdbd202b289904ab4" /><Relationship Type="http://schemas.openxmlformats.org/officeDocument/2006/relationships/notesMaster" Target="/ppt/notesMasters/notesMaster1.xml" Id="R40511575957749bb" /><Relationship Type="http://schemas.openxmlformats.org/officeDocument/2006/relationships/presProps" Target="/ppt/presProps.xml" Id="Rdb9c2c5866ae44a9" /><Relationship Type="http://schemas.openxmlformats.org/officeDocument/2006/relationships/tableStyles" Target="/ppt/tableStyles.xml" Id="Rd6f5b4db291f4a47" /><Relationship Type="http://schemas.openxmlformats.org/officeDocument/2006/relationships/slide" Target="/ppt/slides/slide1.xml" Id="Ra0e8f7582a9f46f2" /><Relationship Type="http://schemas.openxmlformats.org/officeDocument/2006/relationships/slide" Target="/ppt/slides/slide2.xml" Id="Reb861e9b34a74e9a" /><Relationship Type="http://schemas.openxmlformats.org/officeDocument/2006/relationships/slide" Target="/ppt/slides/slide3.xml" Id="R8b8d93218e4f4ded" /><Relationship Type="http://schemas.openxmlformats.org/officeDocument/2006/relationships/slide" Target="/ppt/slides/slide4.xml" Id="R8f7d73d6aecf422e" /><Relationship Type="http://schemas.openxmlformats.org/officeDocument/2006/relationships/slide" Target="/ppt/slides/slide5.xml" Id="R315c747cb07d4a09" /><Relationship Type="http://schemas.openxmlformats.org/officeDocument/2006/relationships/slide" Target="/ppt/slides/slide6.xml" Id="Ra229eef110e848f1" /><Relationship Type="http://schemas.openxmlformats.org/officeDocument/2006/relationships/slide" Target="/ppt/slides/slide7.xml" Id="Re5e75f207b74447b" /><Relationship Type="http://schemas.openxmlformats.org/officeDocument/2006/relationships/slide" Target="/ppt/slides/slide8.xml" Id="R060b1db230834dcb" /><Relationship Type="http://schemas.openxmlformats.org/officeDocument/2006/relationships/slide" Target="/ppt/slides/slide9.xml" Id="Rb2890e59647a48a5" /><Relationship Type="http://schemas.openxmlformats.org/officeDocument/2006/relationships/slide" Target="/ppt/slides/slide10.xml" Id="R7cbbb9829aae4e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26d6f17cdf4c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3b483f536f4dd5" /><Relationship Type="http://schemas.openxmlformats.org/officeDocument/2006/relationships/notesMaster" Target="/ppt/notesMasters/notesMaster1.xml" Id="R1dcbe0ae260845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adf84590ab4a8d" /><Relationship Type="http://schemas.openxmlformats.org/officeDocument/2006/relationships/notesMaster" Target="/ppt/notesMasters/notesMaster1.xml" Id="Rb4f89bf61f2b49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7d6d3cbeed4ed5" /><Relationship Type="http://schemas.openxmlformats.org/officeDocument/2006/relationships/notesMaster" Target="/ppt/notesMasters/notesMaster1.xml" Id="Rcf1983ee22e849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0e249b3ae04c82" /><Relationship Type="http://schemas.openxmlformats.org/officeDocument/2006/relationships/notesMaster" Target="/ppt/notesMasters/notesMaster1.xml" Id="R924a964181b147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ede900e35f466c" /><Relationship Type="http://schemas.openxmlformats.org/officeDocument/2006/relationships/notesMaster" Target="/ppt/notesMasters/notesMaster1.xml" Id="Re64187911ec14b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33203590f442e5" /><Relationship Type="http://schemas.openxmlformats.org/officeDocument/2006/relationships/notesMaster" Target="/ppt/notesMasters/notesMaster1.xml" Id="Rf9d195abd4ba45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877faaacad4ce8" /><Relationship Type="http://schemas.openxmlformats.org/officeDocument/2006/relationships/notesMaster" Target="/ppt/notesMasters/notesMaster1.xml" Id="Rcd0be9ed279f45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95beb73bad4f0c" /><Relationship Type="http://schemas.openxmlformats.org/officeDocument/2006/relationships/notesMaster" Target="/ppt/notesMasters/notesMaster1.xml" Id="Raa2e3f8d18a347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9ed6b0c4af4c40" /><Relationship Type="http://schemas.openxmlformats.org/officeDocument/2006/relationships/notesMaster" Target="/ppt/notesMasters/notesMaster1.xml" Id="R04780c00172c4c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bff33f24bc4dff" /><Relationship Type="http://schemas.openxmlformats.org/officeDocument/2006/relationships/notesMaster" Target="/ppt/notesMasters/notesMaster1.xml" Id="Redef9a6d685145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各位老师好，我们的项目是长三角铁路12306客票系统。我们围绕铁路售票的核心数据问题，使用MySQL、Neo4j、Redis和Python构建了完整的查询、购票、退票与候补流程。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真实12306的难点不只是访问量大。高峰请求需要通过排队和分布式服务削峰，余票必须按区间复用计算，而占座、支付、退票和候补兑现又必须保持强一致性。这三个问题决定了售票系统的数据库架构。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系统采用分层结构。用户端和管理端通过Python服务层访问数据库。MySQL负责交易与库存，Neo4j负责换乘搜索，Redis负责快速唤醒后台任务。三者职责清晰，系统即使暂时失去Redis也不会丢失业务数据。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ER模型分为铁路运行、区间库存和用户交易三个领域。车次模板与每日运行实例分离，使不同日期拥有独立库存。订单主体、明细、支付和座位分配分别建模，减少冗余并通过主外键和唯一约束保证完整性。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Python位于客户端和数据库之间，负责接口、参数校验和流程调度。直达查询由MySQL完成。一次换乘先由Neo4j搜索候选路径，再回到MySQL验证运行日期、换乘时间、票价和实时库存。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区间位图解决席位复用问题。每个相邻区段对应一个二进制位，一个运行座位用BIGINT记录整条线路的占用状态。请求位图与占用位图按位与为零，说明区间不冲突。购票按位或，退票按位与非。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位图解决库存表示，并发购票还需要事务锁。系统用FOR UPDATE锁定候选座位，获得锁后重新检查位图。订单、座位分配和库存更新在一个事务内提交，任何一步失败都整体回滚。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系统把订票请求先持久化到MySQL缓冲表，再由Redis快速唤醒工作线程。Redis只保存信号，不保存业务权威状态。即使Redis失效，后台线程仍可通过MySQL轮询继续处理任务。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无票用户的候补请求先持久化到MySQL。退票释放库存后，系统立即触发匹配，后台线程还会定期补偿扫描。队列以创建时间为主序，并允许有限跳过，在公平性和库存利用率之间取得平衡。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系统已经实现从选择城市与车站、查询实时余票、确认订单到生成电子车票的完整流程。用户端与管理端彼此隔离，管理端可以观察库存、订单、乘客和候补队列。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0f7ef42b846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e5305c60442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70c98d0534d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c2e07e0884c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be78482fd4e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5938e56654c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27DBC3-8AF7-420B-A76B-E93DAA3A54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906C7D-0556-4D98-8EEC-4D18AFC05B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5F79D7-F748-492D-9A22-EE3216B403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882100-CC0C-4E59-94C4-047D76E0B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71326B-773B-4CD2-BC47-1F4CAF9ACB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1EEE9A-B60F-46C8-9477-D388FCA35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68F6F6-309A-4F32-94CF-19A1342745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66F7ED-CC73-4431-AC24-CFAFC86E6A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52A20B-39B6-4351-A517-EEC84B3D92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FE8513-90DC-48C4-9DE1-96F33C2D3A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7c3b39aa6f4264" /><Relationship Type="http://schemas.openxmlformats.org/officeDocument/2006/relationships/slideLayout" Target="/ppt/slideLayouts/slideLayout1.xml" Id="R30a3db5eb443496d" /><Relationship Type="http://schemas.openxmlformats.org/officeDocument/2006/relationships/slideLayout" Target="/ppt/slideLayouts/slideLayout2.xml" Id="Rcb73292193b5499f" /><Relationship Type="http://schemas.openxmlformats.org/officeDocument/2006/relationships/slideLayout" Target="/ppt/slideLayouts/slideLayout3.xml" Id="R276c225b383a4e5f" /><Relationship Type="http://schemas.openxmlformats.org/officeDocument/2006/relationships/slideLayout" Target="/ppt/slideLayouts/slideLayout4.xml" Id="Re7f07c627862406d" /><Relationship Type="http://schemas.openxmlformats.org/officeDocument/2006/relationships/slideLayout" Target="/ppt/slideLayouts/slideLayout5.xml" Id="R454762a637774176" /><Relationship Type="http://schemas.openxmlformats.org/officeDocument/2006/relationships/slideLayout" Target="/ppt/slideLayouts/slideLayout6.xml" Id="Rb7a8fc34691044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a3db5eb443496d"/>
    <p:sldLayoutId xmlns:r="http://schemas.openxmlformats.org/officeDocument/2006/relationships" id="2147483650" r:id="Rcb73292193b5499f"/>
    <p:sldLayoutId xmlns:r="http://schemas.openxmlformats.org/officeDocument/2006/relationships" id="2147483651" r:id="R276c225b383a4e5f"/>
    <p:sldLayoutId xmlns:r="http://schemas.openxmlformats.org/officeDocument/2006/relationships" id="2147483652" r:id="Re7f07c627862406d"/>
    <p:sldLayoutId xmlns:r="http://schemas.openxmlformats.org/officeDocument/2006/relationships" id="2147483653" r:id="R454762a637774176"/>
    <p:sldLayoutId xmlns:r="http://schemas.openxmlformats.org/officeDocument/2006/relationships" id="2147483654" r:id="Rb7a8fc34691044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ca0c31bddc48c5" /><Relationship Type="http://schemas.openxmlformats.org/officeDocument/2006/relationships/image" Target="/ppt/media/image.png" Id="R27670cd414ad4a6f" /><Relationship Type="http://schemas.openxmlformats.org/officeDocument/2006/relationships/notesSlide" Target="/ppt/notesSlides/notesSlide1.xml" Id="Rdabe6fc55c8140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0cf76a3194724" /><Relationship Type="http://schemas.openxmlformats.org/officeDocument/2006/relationships/image" Target="/ppt/media/image2.png" Id="Rab9f7eef59d94650" /><Relationship Type="http://schemas.openxmlformats.org/officeDocument/2006/relationships/image" Target="/ppt/media/image3.png" Id="R44a30f52ec83405c" /><Relationship Type="http://schemas.openxmlformats.org/officeDocument/2006/relationships/notesSlide" Target="/ppt/notesSlides/notesSlide2.xml" Id="Ra0375a563b8340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cb152554c47af" /><Relationship Type="http://schemas.openxmlformats.org/officeDocument/2006/relationships/image" Target="/ppt/media/image4.png" Id="R61aa1b8a55404bc3" /><Relationship Type="http://schemas.openxmlformats.org/officeDocument/2006/relationships/image" Target="/ppt/media/image5.png" Id="R19ab32fe30204366" /><Relationship Type="http://schemas.openxmlformats.org/officeDocument/2006/relationships/notesSlide" Target="/ppt/notesSlides/notesSlide3.xml" Id="R31133aa279884a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ddcb2bc7c04fda" /><Relationship Type="http://schemas.openxmlformats.org/officeDocument/2006/relationships/image" Target="/ppt/media/image6.png" Id="R388b4a142b334427" /><Relationship Type="http://schemas.openxmlformats.org/officeDocument/2006/relationships/image" Target="/ppt/media/image7.png" Id="R8824ccc968e246ac" /><Relationship Type="http://schemas.openxmlformats.org/officeDocument/2006/relationships/notesSlide" Target="/ppt/notesSlides/notesSlide4.xml" Id="R1abb40379ddf4c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413a743c45404f" /><Relationship Type="http://schemas.openxmlformats.org/officeDocument/2006/relationships/image" Target="/ppt/media/image8.png" Id="R5cdff42621b348a0" /><Relationship Type="http://schemas.openxmlformats.org/officeDocument/2006/relationships/image" Target="/ppt/media/image9.png" Id="R4fc55d87541e41e2" /><Relationship Type="http://schemas.openxmlformats.org/officeDocument/2006/relationships/notesSlide" Target="/ppt/notesSlides/notesSlide5.xml" Id="R0a2193fc62094c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fde0635c114572" /><Relationship Type="http://schemas.openxmlformats.org/officeDocument/2006/relationships/image" Target="/ppt/media/image10.png" Id="R38ae3eec73a54d58" /><Relationship Type="http://schemas.openxmlformats.org/officeDocument/2006/relationships/image" Target="/ppt/media/image11.png" Id="R0421a0b34ba14f13" /><Relationship Type="http://schemas.openxmlformats.org/officeDocument/2006/relationships/notesSlide" Target="/ppt/notesSlides/notesSlide6.xml" Id="R0ea557e921a249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da87f617a64a30" /><Relationship Type="http://schemas.openxmlformats.org/officeDocument/2006/relationships/image" Target="/ppt/media/image12.png" Id="R7b4bf648ac4946e2" /><Relationship Type="http://schemas.openxmlformats.org/officeDocument/2006/relationships/image" Target="/ppt/media/image13.png" Id="R44e91690ed6e484b" /><Relationship Type="http://schemas.openxmlformats.org/officeDocument/2006/relationships/notesSlide" Target="/ppt/notesSlides/notesSlide7.xml" Id="R2be6d3b539124d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aac9a59034186" /><Relationship Type="http://schemas.openxmlformats.org/officeDocument/2006/relationships/image" Target="/ppt/media/image14.png" Id="R9d2d576a63194a99" /><Relationship Type="http://schemas.openxmlformats.org/officeDocument/2006/relationships/image" Target="/ppt/media/image15.png" Id="R9e2b372b1dfd47c0" /><Relationship Type="http://schemas.openxmlformats.org/officeDocument/2006/relationships/notesSlide" Target="/ppt/notesSlides/notesSlide8.xml" Id="Rb9b7cbda9b6e40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5319ade5443f8" /><Relationship Type="http://schemas.openxmlformats.org/officeDocument/2006/relationships/image" Target="/ppt/media/image16.png" Id="R29e022209c2e4346" /><Relationship Type="http://schemas.openxmlformats.org/officeDocument/2006/relationships/image" Target="/ppt/media/image17.png" Id="Rcde298f85a3d409f" /><Relationship Type="http://schemas.openxmlformats.org/officeDocument/2006/relationships/notesSlide" Target="/ppt/notesSlides/notesSlide9.xml" Id="Rd7f4c6c1541b4c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d9c7c97c84125" /><Relationship Type="http://schemas.openxmlformats.org/officeDocument/2006/relationships/image" Target="/ppt/media/image18.png" Id="R3ebc71ef6ae44d49" /><Relationship Type="http://schemas.openxmlformats.org/officeDocument/2006/relationships/image" Target="/ppt/media/image19.png" Id="R4cd616dbaa2f45b5" /><Relationship Type="http://schemas.openxmlformats.org/officeDocument/2006/relationships/image" Target="/ppt/media/image20.png" Id="Rac6f903565cb4259" /><Relationship Type="http://schemas.openxmlformats.org/officeDocument/2006/relationships/image" Target="/ppt/media/image21.png" Id="Re511996c58514c4a" /><Relationship Type="http://schemas.openxmlformats.org/officeDocument/2006/relationships/notesSlide" Target="/ppt/notesSlides/notesSlide10.xml" Id="R53e8a40e9ab047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09720-FBED-4D7A-BD06-2364D7EB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C3340-41F9-42D3-9E7F-750EA0C4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F0E63-95EB-428C-9BE7-FBC9DB4A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D96D7-DF51-4DA8-8C16-A2B2E6CC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3062A-07D0-4482-9176-D927442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E9810-EE1C-4448-BDC8-4334CF39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DF8DA-84A1-4B87-B095-441D3772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57750"/>
            <a:ext cx="6858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8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AC9BB-38CF-4D5B-976E-B2045EC4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429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6EA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76C12-7741-4077-8320-2651A1EC50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70cd414ad4a6f"/>
          <a:stretch xmlns:a="http://schemas.openxmlformats.org/drawingml/2006/main"/>
        </p:blipFill>
        <p:spPr>
          <a:xfrm xmlns:a="http://schemas.openxmlformats.org/drawingml/2006/main">
            <a:off x="1123950" y="893124"/>
            <a:ext cx="819150" cy="41402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8A7C3-C67F-4B30-8AA4-058CC618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954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F8171-AEFF-4222-ABE2-43F7F73F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9535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3D01D-0A61-408E-A4A5-753068DA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BD846-B494-40D6-9FB0-ECB818C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CB0CB-3CC7-4C51-A966-489C3C7A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4933A-C121-4026-B54E-80BDA24E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10C08-F0F9-4B5B-BA98-EBA6856E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44047-97A1-4259-A6A0-57E4C7F9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长三角铁路12306客票系统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4C5D2-A2DA-4FA3-B5F2-36637255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基于多数据库协作的铁路售票系统设计与实现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F215B-4CE2-49D0-BCA5-85B17834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81425"/>
            <a:ext cx="457200" cy="66675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EDA517-F821-46BB-9221-6F2EFC84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4232B-048B-4AF5-899C-2D5A68D3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6EC1A-6B1D-4AA9-8F5E-7283DDD5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E5110-9D10-420C-B8A1-8804DC4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34F28-684D-429E-AA1E-4FF676A8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92FC9-0172-4CE0-9EAE-24B6C795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0D53C-604E-4857-8C12-73990DEA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71950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C3F386-9ADA-487A-9C1B-AADC3EEA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719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4EA851-23DD-4B86-AB84-E00C2698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768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数据库课程设计汇报</a:t>
            </a:r>
          </a:p>
        </p:txBody>
      </p:sp>
    </p:spTree>
    <p:extLst>
      <p:ext uri="{BB962C8B-B14F-4D97-AF65-F5344CB8AC3E}">
        <p14:creationId xmlns:p14="http://schemas.microsoft.com/office/powerpoint/2010/main" val="1365248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8FCC67-4B02-4756-9CE0-30BEBD26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3F257-FCAF-4FF6-AC2A-06B466D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E3ADC-383F-4C77-A666-260A6E2D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8ABD3-9BCB-4088-84D2-64E0820B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1BFC6-9B00-4911-A148-F40F6A60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F4C5E-C1BD-49C3-AE17-7ED280A3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1B029-91F8-4480-ACC5-6A7203F4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6EFB1-3B68-4BAE-BEC3-149EBFD1D0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f7eef59d94650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32FE4-7D73-416B-99E5-0DDA87BC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60C92-525F-4CED-8698-0C3D3AFB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3BC35-0F16-4279-AD84-9702D9D8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CBECC-C71C-40CC-B412-7A1C3E60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91426-C768-4905-910F-C85042B2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301D9-7D69-4329-9421-B8B6AF2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C6F85-F2C4-44DE-BACD-CABA3F75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C2098-73B0-43C1-819F-ED501B2A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2B0C3-0E4E-4DDE-BFA3-961A7044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B9931-10CE-4588-81AD-D66DB754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真实12306的数据库挑战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E466F-08E5-4CE0-BCF8-84DE771F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3094D-11BA-41CF-964A-EE2EF7CA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2,973.7万张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8324F-5C18-4B43-8058-8571DD7C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2026年9月23日单日售票量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6801A-4F27-49DB-B942-191CB952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百万次/秒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C7E43-2F19-44AE-AD9E-03162B9A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98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春运高峰访问量，非出票速度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4875ED-FB33-46B8-8DE4-A9838559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32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F4854-FFDB-4F8B-B24D-403CFF26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2EB82-C88B-4956-B0AD-6BB679AF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2E5087-E512-4008-AF54-ECADB672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请求洪峰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CBEB0D-6DD8-4653-9FCF-3D2FC47A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0517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交易请求先排队再进入分布式服务，避免瞬时流量直接冲击库存库。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8CEE8A-6338-4F97-A5FC-E484DAC4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A21924-BF6A-4CD9-9D5D-B0FF2D65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4CD800-5F67-4884-8BEF-173CCA06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86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区间库存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C3FC30-C940-4FF0-939F-3EC79E71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8147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余票按运行区间计算，同一席位可以在互不重叠的区段重复出售。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5E1DF1-C92D-417B-856B-EA202910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17BE09-4D35-44F6-88B4-DB3244C8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20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2C1A44-2B75-4865-9946-51A3443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交易一致性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5FA827-D69A-4256-BB7A-131F5584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5777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占座、支付、退票与候补兑现必须处于可回滚的事务边界内。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BD25D8-BD36-461E-B1C7-151BD14D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5638800" cy="3829050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DF98D1-FE52-4838-86AF-4E8E3EF9BC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30f52ec83405c"/>
          <a:srcRect xmlns:a="http://schemas.openxmlformats.org/drawingml/2006/main" l="0" t="88" r="0" b="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8800" y="2066925"/>
            <a:ext cx="5410200" cy="3600450"/>
          </a:xfrm>
          <a:prstGeom xmlns:a="http://schemas.openxmlformats.org/drawingml/2006/main" prst="roundRect">
            <a:avLst>
              <a:gd name="adj" fmla="val 3175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16D1FF-279B-4A6A-9CB9-4D7B9850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1042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资料来源：公开报道。访问量与售票量采用不同统计口径</a:t>
            </a:r>
          </a:p>
        </p:txBody>
      </p:sp>
    </p:spTree>
    <p:extLst>
      <p:ext uri="{BB962C8B-B14F-4D97-AF65-F5344CB8AC3E}">
        <p14:creationId xmlns:p14="http://schemas.microsoft.com/office/powerpoint/2010/main" val="4411269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44BA66-5F5D-4251-89AF-10E248F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681F5-3B84-4B8A-9983-0323DB81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5CAE0-5A48-46D2-BCCE-7D43539B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922F-2513-47C5-A965-75C6FB95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CF9C9-7AA7-4975-B5E3-BB8256CF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196C8-EF61-44AC-8B45-683D7B04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CB0BE-7608-49A7-AEEE-A8D1A26D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B4D87-0DFC-477C-BC6B-5F766817C5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a1b8a55404bc3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BC1E6-1EAC-40E0-91D2-37247387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93DC8-D471-4DA4-A5A9-14036A6A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B7B5E-10AA-447D-896E-763139F8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AFA9A-BEBA-464E-824C-708F0B54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1E977-C02D-49FF-B673-C86806B6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3018A-F504-48A4-800E-69062E24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5A733-22A2-48D5-BA50-7A1032CB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3FB51-6993-42F4-ABB4-E5951C1A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7BB15-3173-422E-B4DE-2B227A0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0302E-0F41-4247-97C0-B84E28CF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系统分层架构与数据规模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333FF-AA97-461F-BC92-D889526E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B1696-860A-4761-BF62-8EA25604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6457950" cy="38862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1CB844-8F28-408E-85EF-D0295277EB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b32fe30204366"/>
          <a:stretch xmlns:a="http://schemas.openxmlformats.org/drawingml/2006/main"/>
        </p:blipFill>
        <p:spPr>
          <a:xfrm xmlns:a="http://schemas.openxmlformats.org/drawingml/2006/main">
            <a:off x="914400" y="2186368"/>
            <a:ext cx="6229350" cy="3399665"/>
          </a:xfrm>
          <a:prstGeom xmlns:a="http://schemas.openxmlformats.org/drawingml/2006/main" prst="roundRect">
            <a:avLst>
              <a:gd name="adj" fmla="val 3125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DE25E-EB9B-42B5-A052-3F7DEEE5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47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三类数据库各司其职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24159-03AD-4C85-9E15-602BA41C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9326A-A6E5-46FC-A991-82019160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82CDB8-28B0-46C2-BA54-FE611538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保存订单、支付、运行实例和席位库存，是交易权威数据源。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A485D-FDDF-4D3A-935D-79D8B127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E1DC54-D6B3-4E3C-BF7C-64BA5B8F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67297F-FB51-4CCD-81E3-9A063D2E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48075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把车站与运行区段建模为图，搜索一次换乘候选路径。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0A54F9-8F1E-406F-B044-841F764A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C391E2-EE3C-4C9D-ACFB-DC750FF8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EE494A-3678-4685-A5AB-D53BFC59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86275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仅承担任务唤醒与瞬时流量缓冲，持久状态仍回写MySQL。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F405D7-F10F-4E33-AB97-46A47B4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19700"/>
            <a:ext cx="819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BD776E-0C14-4A55-9F74-9842436C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292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车站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81C9A1-9DF4-404F-AF95-BB779511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19700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1,798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4BC1B4-678B-466C-92E9-5E2561D3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2927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车次与运行实例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2BF725-B4DB-41D3-BF41-B5748533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2197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44万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EF3A3A-981B-4884-85B2-A4F36F48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629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席位库存记录</a:t>
            </a:r>
          </a:p>
        </p:txBody>
      </p:sp>
    </p:spTree>
    <p:extLst>
      <p:ext uri="{BB962C8B-B14F-4D97-AF65-F5344CB8AC3E}">
        <p14:creationId xmlns:p14="http://schemas.microsoft.com/office/powerpoint/2010/main" val="1714873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F669F0-3C53-4376-8234-680D40A3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B422E-CC95-46C2-B1C3-F9B9C349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70C11-8086-4A8A-9AFC-79559B38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508F9-330A-45B0-AF47-33E62B1C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9288D-C923-4C9D-9BE1-3D72F3A3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C8656-FF18-4829-9383-82E5226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DC7D8-038F-4E66-BF84-B786E28C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6874D-D1E8-46A4-9CF1-21C2C40688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b4a142b334427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8E6DF-B1DD-4CAC-B077-866DFA8F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61847-F09A-4687-A32E-0CA55BF7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4AEAA-72C5-4B3C-8C85-994D0033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B5F36-9A7D-45B4-882D-B6298E34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C5C85-FFEC-46C1-8B5B-052A4FE4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9C68B-97C6-4D26-A088-6912C951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70366-2091-44BF-AC3B-67F05B75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9249F-D08B-42DF-BA08-EAA9E194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8BEF9-7998-42BA-9582-E475C1FE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C3E2B-5B01-4D41-8558-81DAC31D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核心ER模型与关系拆分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B6260-D17B-4EA6-9069-42DBA0A8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F4484-98F4-4441-B3C8-39930352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关系模型围绕三个领域展开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C6457-048D-429A-8CA6-FC9B4856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A2EB9-1251-4C30-9319-4C9C8A6D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2E269-1A2C-4BFC-8FD4-2D380633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铁路运行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A4A1D-2A8F-4CC1-8737-7B023224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051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车站、车次模板、停站记录和每日运行实例描述列车如何运行。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1A28C-5C9E-42BA-AB04-2E80C941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3D21BC-9EA5-4105-A454-A76C9B80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F73474-5ABA-4674-A5B4-2D7E96BC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区间库存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66787-D777-497F-A11D-FEAF0F32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957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运行座位、票价、座位分配与占用位图共同描述可售能力。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A36929-2C87-4FBB-BDF8-154C41AA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10CE4C-06EF-4A54-8A73-944CC584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14C0EC-9338-4A5C-AB8C-CB02DE35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用户交易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F2FEBC-F97B-445B-B928-73C8C984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863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订单主体、订单明细、支付记录和候补请求保持状态可追踪。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C57807-8AB2-409E-948E-38303058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3714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03C788-6A0C-4B0F-8E13-B62E1B26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721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关键拆分：车次模板与每日运行实例分离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9F4043-7C3F-44F8-9DBF-7BCD60DC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52625"/>
            <a:ext cx="61531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87BC25-B4C9-4946-9696-465B54263A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4ccc968e246ac"/>
          <a:stretch xmlns:a="http://schemas.openxmlformats.org/drawingml/2006/main"/>
        </p:blipFill>
        <p:spPr>
          <a:xfrm xmlns:a="http://schemas.openxmlformats.org/drawingml/2006/main">
            <a:off x="5124450" y="2285709"/>
            <a:ext cx="5924550" cy="3334331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205938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736A1F-F7E7-41C2-8C40-A4A60E11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FA20A-4F74-493C-ADDE-EAE4864E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01C58-A180-4CCF-B900-97824986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51CAA-98C5-4790-86FA-A5F89156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CF49D-801D-4A6D-AF05-1CD03178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8F8AA-BA96-4EA9-A401-0E99CE3F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508F7-1698-437E-9F8A-87D9E9BE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4C755-C404-4DEB-9E05-D7A9457EAA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ff42621b348a0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8FA04-1EE1-4C72-9C38-488DC9F4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7C6B8-2DD0-4FDC-A3FA-3FC9403E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907BF-4409-473D-A7A3-CE951EC9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0D560-764D-4ED1-9C42-CD823618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7641E-8D13-4F6B-9AC0-5C882CB8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F1D81-50F2-47CD-AC90-25112E98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32CD4-F89B-43AD-A478-D0D9B462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86F9F-CDF1-40F3-9CEA-1E9B6423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272A2-9CDF-4279-A193-326BD4A0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60E67-14EA-4810-91CC-4BA67B7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Python服务层与Neo4j换乘搜索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E9675-A33E-4CC3-BF75-6FDF5DC3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142D6-DBE9-4E49-AEBA-B3775CFC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Python负责流程编排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91C9A-0F5D-4A71-8745-1FD6F065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0139A-8A21-4A3D-831D-D4EC6536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8021A-96BF-42C5-9E11-B0EB15AE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直达查询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24F44D-EF24-4300-BCCC-9C23C4D0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051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MySQL按起终站顺序、运行日期和实时库存直接筛选车次。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219C2D-2E06-4998-A8F3-654D579A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055BB-DE23-451B-9D76-FDF8E43B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64E194-B97C-4C3B-B700-33B3E92C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一次换乘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00A9CB-96E8-4994-A2B2-F65A9706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957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Neo4j先找候选路径，随后由MySQL验证时刻、票价与库存。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B78E0D-05B4-439B-BCD2-31B0553D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C7AE96-88CF-4A9F-8C5A-E48599B3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00C34D-49C2-451F-B7EF-A35D3A0E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职责边界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BC9DCC-59A3-4BD2-B894-12522021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863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图数据库负责找路，关系数据库决定候选方案能否出售。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F6F1A5-EE6F-4802-A3A7-1829A400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3714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1C5CCB-7098-407F-A6C8-5ACD18E0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721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E5700"/>
                </a:solidFill>
                <a:latin typeface="Microsoft YaHei"/>
                <a:ea typeface="Microsoft YaHei"/>
                <a:cs typeface="Microsoft YaHei"/>
              </a:rPr>
              <a:t>HTTP接口　参数校验　事务调度　后台任务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83F9F1-5C40-4091-B38F-09768B82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52625"/>
            <a:ext cx="61531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83186C-8A01-4168-91DC-8C3E15C3E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55d87541e41e2"/>
          <a:stretch xmlns:a="http://schemas.openxmlformats.org/drawingml/2006/main"/>
        </p:blipFill>
        <p:spPr>
          <a:xfrm xmlns:a="http://schemas.openxmlformats.org/drawingml/2006/main">
            <a:off x="5124450" y="2402913"/>
            <a:ext cx="5924550" cy="3099924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1853802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9CB389-C303-4473-8AC7-C4432AEE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CD6B1-5B46-4A0E-9075-100A6284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B824E-2B3A-4390-B092-D1F22CAC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525F0-EA23-408E-A7A0-D8725C6A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93C57-299A-46D1-97FE-E33270C0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ABEBC-BF12-4032-A421-CDCE3321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C8FBD-469E-426B-8B43-A9C0ACED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26667-2824-457C-8081-5DC71A930B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e3eec73a54d58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7D0C1-7C2B-4907-B2B4-DDFE79EB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925B8-75B2-4B9E-A376-92224322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76237-855C-4E11-ABD1-A1EF16DE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D9A4D-FC7E-464C-97B2-B7834A4B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827CC-A732-480D-A059-3DF0BCB1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9E1BA-B114-46E4-88DF-885C16AB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4B55E-D0D7-4817-BB3E-C162CDA5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10E38-93C3-492F-89DD-15CF69A3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7B2B0-5E90-4FB2-9330-5B047552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94B13-BAEF-45E9-804D-EEF32F7C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区间位图与席位复用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05B6E-3BB0-4A25-B17A-F02BFBF9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030465-38A4-4736-BAD5-5B51F2AD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62293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B7720-9AB8-445E-8528-FDA3E7030E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1a0b34ba14f13"/>
          <a:stretch xmlns:a="http://schemas.openxmlformats.org/drawingml/2006/main"/>
        </p:blipFill>
        <p:spPr>
          <a:xfrm xmlns:a="http://schemas.openxmlformats.org/drawingml/2006/main">
            <a:off x="1088237" y="2066925"/>
            <a:ext cx="5653075" cy="377190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79252-FC48-4263-828C-BEDC5393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一个整数表示整条线路的占用状态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B90FA-325D-4C47-957B-0B1BF489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42304-1572-46C7-B1E0-0D714A30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670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00331-32E5-4ED8-8FDD-C8F5898E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区间编码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C6D18-76BD-46DC-82A9-6660D358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5277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相邻车站之间的区段映射为二进制位，运行座位用BIGINT保存占用位图。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579510-F52A-4A6C-BDD8-5B484A44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67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FD2D64-4A56-40E1-A370-CEEEB617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576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750FFB-96B9-4030-996E-623D2661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481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冲突判定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18302F-0C9D-4D12-BEE0-5149DC0E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4337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请求位图与占用位图按位与。结果为0时，所选区间没有重叠。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78107C-3843-4310-B9CC-DD825A46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57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33DE23-2815-47F8-B209-539BB2DE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482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F7C023-42F2-49CF-B28E-BD46530A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387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更新规则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8E0104-C75A-405B-984D-7EFDB70D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3397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购票执行按位或，退票执行按位与非，只修改相关区间。</a:t>
            </a:r>
          </a:p>
        </p:txBody>
      </p:sp>
    </p:spTree>
    <p:extLst>
      <p:ext uri="{BB962C8B-B14F-4D97-AF65-F5344CB8AC3E}">
        <p14:creationId xmlns:p14="http://schemas.microsoft.com/office/powerpoint/2010/main" val="20060954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091119-54C7-4988-8790-CA3097F8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7A0EA-03FA-478F-85A3-C89C7EE6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0AB4C-F3B6-4EA5-999F-CD47A3D5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6B3E9-B0B0-4038-AC84-9D615A67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BEBDF-80F8-4BF0-A1FD-1EB71A1B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F7C64-9A6E-4B4C-B030-A1B915D7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21C68-2420-4599-9DA6-2EB0AE26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760A7-1451-4B39-AB95-9CB7B423C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bf648ac4946e2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A74AE-DFE7-4060-B589-0F101853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859BD-0822-4287-B0C3-70BFEC4D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B3BF6-DBD8-4004-A424-50BA15B2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CE648-6B79-437C-BF43-8858F026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14E1F-AFF6-42E5-81D4-023337EC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FD232-77CD-41BA-84C9-BCD87427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54CDA-E2E5-41C4-AE8E-4FA199C3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E29E7-9C2E-456B-B387-897D14D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9E9E4-5155-4754-8687-89356CC1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E4E39-36CC-45AA-9EDE-C9A8206D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并发购票与事务行锁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F927D-4B5C-4652-80C1-78EB1E89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45BF6-3678-41EF-A81B-C712C838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最后一张票只允许一个事务成功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081DB-3FE9-4330-8878-6C0C1896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E5704-A68D-46B7-A9D0-1C753A1A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18A7D-E25A-42AF-8F4B-6F3655B9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锁定候选座位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AE0600-0EE7-44CF-8C98-F17F6820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194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使用SELECT ... FOR UPDATE取得行锁，阻止其他事务同时修改。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DACF95-FF8E-46DE-B25C-D4074C0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835831-3054-4512-BD59-A1B2442C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06039B-3E74-40D6-9E01-BB3241E1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锁后重新检查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C2F2D7-FCC8-49FD-8C6A-97FF2742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00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获得锁后再次计算位图，避免查询结果与实际库存之间出现时间差。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AC2D8-DAD6-4871-98FE-18BA6E52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C42D21-2E74-4002-A9EF-CBCFCC1B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6F6E09-C3EF-4205-B214-F58531C3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053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原子提交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22FB6D-F9E5-46D9-B34B-4B0E6B56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006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订单、座位分配和位图更新在同一事务中提交，失败时整体回滚。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C2FDFA-D5D0-4ED2-839E-5FB1F742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52625"/>
            <a:ext cx="61531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FF5B70-8419-4F5A-8458-0F7948D662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91690ed6e484b"/>
          <a:stretch xmlns:a="http://schemas.openxmlformats.org/drawingml/2006/main"/>
        </p:blipFill>
        <p:spPr>
          <a:xfrm xmlns:a="http://schemas.openxmlformats.org/drawingml/2006/main">
            <a:off x="5124450" y="2403607"/>
            <a:ext cx="5924550" cy="3098536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6923730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E3668F-0D46-43D1-ABD0-3F643FCB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5472B-9B3C-4F56-AF3C-C4F70EE4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32373-4882-4EDC-AF37-78612FF5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3EFFA-9F7B-4AF6-980B-68864E06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6912C-E682-4057-BA2B-A5F5B274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6C7F5-9A0F-453E-9179-5B22B610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B4185-9721-4CE6-BD67-D23BBF7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FDA50-3FF9-4B7D-B17F-962D61D926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d576a63194a99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631F6-7E76-463C-811E-DB23FFF3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55F0E-BD0D-47B6-94E2-EFCBD22F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66134-27F2-4FAB-86A0-E236BA32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FC5A3-A38A-4B33-BBF8-0F75A88A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CDDED-6016-4F45-A82E-37B78939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5BA48-5A66-4D01-8CE2-C46E8FB0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D09EF-80D5-441D-8F87-1A62C0D1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20FC1-BE0E-46BC-897D-7032E94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22F0A-89DE-43DB-B6BB-F2E5A0DF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F8B2C-39FF-46F4-8721-4EE54009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持久化订票缓冲与Redis唤醒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E3DC5-CD05-4389-977C-AB6709CD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3D420-ABE1-467F-B43B-54A620F1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62293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B8106-6055-44B3-B826-8CE66BB689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b372b1dfd47c0"/>
          <a:stretch xmlns:a="http://schemas.openxmlformats.org/drawingml/2006/main"/>
        </p:blipFill>
        <p:spPr>
          <a:xfrm xmlns:a="http://schemas.openxmlformats.org/drawingml/2006/main">
            <a:off x="914400" y="2485093"/>
            <a:ext cx="6000750" cy="2935564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B74EFD-B00C-4FAF-B11B-1E7752A4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削峰与可靠性同时成立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12647-47D3-4C2E-8955-B7D694EC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43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35718-69C9-4D63-896E-575CB561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336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E6D66-966C-44FB-9EDA-41BD9C84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先写MySQL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185B8-2224-4518-B19B-ED5AE8D5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1942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订票请求先进入持久缓冲表，服务重启后仍可继续处理。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A657B-0B16-4FAE-AA8E-A6F66C7D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66BA0D-D1E7-4E9D-8EEF-D6F57D38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242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2948A-805F-4BAF-BEB7-39DC62BD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Redis只唤醒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30F31E-2E70-4E50-ABE2-ABA7B41C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1002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Redis发布轻量信号，让后台线程及时领取任务，不保存权威状态。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3C242-D193-409B-BE72-2430EC6B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24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734946-82F9-43D1-B3D6-B1D2A0E2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148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8F8D40-EBA5-4AF2-A9FE-ABDFB5C3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0535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故障降级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B1426F-59E2-4271-8936-C635E397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0062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Redis不可用时回退到MySQL轮询，任务不会因唤醒信号丢失而消失。</a:t>
            </a:r>
          </a:p>
        </p:txBody>
      </p:sp>
    </p:spTree>
    <p:extLst>
      <p:ext uri="{BB962C8B-B14F-4D97-AF65-F5344CB8AC3E}">
        <p14:creationId xmlns:p14="http://schemas.microsoft.com/office/powerpoint/2010/main" val="19897078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C3B025-59EE-41B2-A742-71BBBDEB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5A01E-2BDF-4AB9-85AB-394672FF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C5819-7CB6-4E60-BE93-245874C6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8D323-B0BB-44C5-87E8-51996A77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7C4E4-B59E-4371-B9FF-7CE9825E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C3276-E1C8-49BD-BB6A-90B99B5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A8AE1-E8E9-4891-A7CD-2B3C56E1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A5838-55C6-4489-A653-A418AC0E90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022209c2e4346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5DE8F-ABD8-4D77-8206-60DBF04B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F33C3-BABF-44E7-AF84-B374D849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3A255-FBC3-4380-9CBB-EB556CAF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F7F06-A08E-4C35-9E86-93B398AC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BE4CC-CC72-4960-94C7-44133565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546FC-9865-4AC3-8C36-8876F713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CD0A6-4E55-4292-BC49-733727C7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1DBF5-5412-4626-BA8B-C0361D82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6E779-868E-4212-964C-0D289689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BE356-6C02-4F45-809C-25192661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候补队列与自动兑现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74E02-98EA-49A7-8EBB-3C01039B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E3C20-AD04-487D-9E34-B1A085EC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退票后立即触发库存再分配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351CB-4AC3-46A3-809B-9AFC5706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7203A-E091-4183-BD91-C612F3CE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8729F-25BA-45C1-B095-EF78FA15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请求持久化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DAD708-B73A-48DD-A120-C3F3A084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194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候补申请先支付并写入MySQL，记录区间、席别、数量和创建时间。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1044E1-7CF8-4048-807A-7EDFBAD1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1A18CB-34F0-4C78-94F7-1B57492D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4AB19-5A5E-4178-AD51-13A25BBC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147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自动匹配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3D591-F295-4964-A9A0-C7DE0D34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00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退票释放库存后立即触发匹配，后台线程还会周期性补偿扫描。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E8765E-7399-4D7C-B8D3-16042A6E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FFD3B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04914-8432-4901-ADB4-CA9CD83F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7412BA-650C-446E-A608-96CA164C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05350"/>
            <a:ext cx="3486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公平保护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BF1B6B-B0CB-4562-AA2B-FC2F04C6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00625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队列按创建时间排序，并通过有限跳过提高库存利用率。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B8AE52-CA94-40C5-AFDA-CA3625D3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52625"/>
            <a:ext cx="615315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0B48A5-22FB-4C6C-A05B-7E3B9083E5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298f85a3d409f"/>
          <a:stretch xmlns:a="http://schemas.openxmlformats.org/drawingml/2006/main"/>
        </p:blipFill>
        <p:spPr>
          <a:xfrm xmlns:a="http://schemas.openxmlformats.org/drawingml/2006/main">
            <a:off x="5124450" y="2414080"/>
            <a:ext cx="5924550" cy="307759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430515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0FA37B-07AD-4244-8413-5229C85C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56AB1-83A8-4E88-9B41-15B4BB8B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71750" y="-3714750"/>
            <a:ext cx="11334750" cy="581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9A866-1498-4F2E-960B-C2431572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-4953000"/>
            <a:ext cx="10001250" cy="6238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E79A7-42F5-41CD-B254-0EF1A957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" y="5334000"/>
            <a:ext cx="1047750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A7B2A-4D35-4C0F-88A4-84359E27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11239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7FF5B-34F0-47A9-BDCE-94ADF6BD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10287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8F91A-33F9-47D6-9343-AD507343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11315700" cy="628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F4E9E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336FD-88D2-4200-AF5C-78A525EF24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c71ef6ae44d49"/>
          <a:stretch xmlns:a="http://schemas.openxmlformats.org/drawingml/2006/main"/>
        </p:blipFill>
        <p:spPr>
          <a:xfrm xmlns:a="http://schemas.openxmlformats.org/drawingml/2006/main">
            <a:off x="742950" y="503324"/>
            <a:ext cx="552450" cy="2792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67188-1C31-49FB-8614-E36D9559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476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CR-EAST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9E701-CF57-45CE-B627-860EDEA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"/>
            <a:ext cx="135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EAST CHINA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7417"/>
                </a:solidFill>
                <a:latin typeface="Microsoft YaHei"/>
                <a:ea typeface="Microsoft YaHei"/>
                <a:cs typeface="Microsoft YaHei"/>
              </a:rPr>
              <a:t>RAILWAY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13E33-5E78-4553-9500-A1AEE48C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F6038-7123-429C-8D31-0F0EA4B8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F8A8E-77E5-4E43-9D0F-6C988ED6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28B8D-3415-46A2-92A2-8F3DF82A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3AF2D-4652-43C2-93A3-6002169E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6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D0E83-3BD0-41B7-B61B-635AAD4F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B1A16-920E-48AC-8D3E-01B72E22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33350" cy="2286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D2014-C13C-493F-B5CE-57ADB507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2830"/>
                </a:solidFill>
                <a:latin typeface="Microsoft YaHei"/>
                <a:ea typeface="Microsoft YaHei"/>
                <a:cs typeface="Microsoft YaHei"/>
              </a:rPr>
              <a:t>系统实现效果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A2790-7DAF-47F0-A3CB-1183835F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E737E-7FD1-49CC-85E4-7DC9C484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从城市查询到电子车票的完整用户流程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A7916-AE3A-4286-AFB8-19635416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659130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A15472-9C69-47FF-A9F5-869FE492FB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616dbaa2f45b5"/>
          <a:stretch xmlns:a="http://schemas.openxmlformats.org/drawingml/2006/main"/>
        </p:blipFill>
        <p:spPr>
          <a:xfrm xmlns:a="http://schemas.openxmlformats.org/drawingml/2006/main">
            <a:off x="914400" y="2281431"/>
            <a:ext cx="6362700" cy="3285738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99146-C53F-4E00-B6EA-50D062CF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741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3DFB1-C9A6-4356-BEEC-E4141F5D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城市与车站查询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F24BA-CCCE-45C1-A582-3ED8623E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35623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E655BA-5C40-4C1A-9342-661966CCA3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f903565cb4259"/>
          <a:stretch xmlns:a="http://schemas.openxmlformats.org/drawingml/2006/main"/>
        </p:blipFill>
        <p:spPr>
          <a:xfrm xmlns:a="http://schemas.openxmlformats.org/drawingml/2006/main">
            <a:off x="7971099" y="2257425"/>
            <a:ext cx="2822051" cy="1457325"/>
          </a:xfrm>
          <a:prstGeom xmlns:a="http://schemas.openxmlformats.org/drawingml/2006/main" prst="roundRect">
            <a:avLst>
              <a:gd name="adj" fmla="val 7843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F12F35-D388-4D47-B478-84CA71FC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车次与实时余票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5F3329-76A6-4CA8-851A-CDD13E40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67175"/>
            <a:ext cx="35623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D7B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8CCFF-4DCE-403F-B80B-8146A7CCA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1996c58514c4a"/>
          <a:stretch xmlns:a="http://schemas.openxmlformats.org/drawingml/2006/main"/>
        </p:blipFill>
        <p:spPr>
          <a:xfrm xmlns:a="http://schemas.openxmlformats.org/drawingml/2006/main">
            <a:off x="7971099" y="4181475"/>
            <a:ext cx="2822051" cy="1457325"/>
          </a:xfrm>
          <a:prstGeom xmlns:a="http://schemas.openxmlformats.org/drawingml/2006/main" prst="roundRect">
            <a:avLst>
              <a:gd name="adj" fmla="val 7843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571964-3569-4187-97E6-2BC22095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62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订单完成与电子车票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C28A91-FF94-4B29-B548-D4013A94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10429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77B82"/>
                </a:solidFill>
                <a:latin typeface="Microsoft YaHei"/>
                <a:ea typeface="Microsoft YaHei"/>
                <a:cs typeface="Microsoft YaHei"/>
              </a:rPr>
              <a:t>课程实验模拟售票系统，非中国铁路12306官方购票渠道</a:t>
            </a:r>
          </a:p>
        </p:txBody>
      </p:sp>
    </p:spTree>
    <p:extLst>
      <p:ext uri="{BB962C8B-B14F-4D97-AF65-F5344CB8AC3E}">
        <p14:creationId xmlns:p14="http://schemas.microsoft.com/office/powerpoint/2010/main" val="911580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2026-10-12T13:53:13.7100000Z</dcterms:created>
  <dcterms:modified xsi:type="dcterms:W3CDTF">2026-10-12T13:53:13.7100000Z</dcterms:modified>
</coreProperties>
</file>
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9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各位老师好，我们的项目是长三角铁路12306客票系统。我们围绕铁路售票的核心数据问题，使用MySQL、Neo4j、Redis和Python构建了完整的查询、购票、退票与候补流程。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春运期间，铁路客流规模巨大。系统既要承受访问洪峰，又要实时计算可复用的区间库存，同时保证支付、退票和候补兑现的一致性。这三类问题决定了真实12306的数据库与交易架构。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真实客票系统采用多数据中心架构。武清与同城数据中心同步承载在线业务，异地灾备中心复制关键数据。铁路专网服务站内终端，移动网络服务互联网和移动终端。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铁路客票系统不会让单一数据库承担所有工作。交易与订单需要关系数据库保证一致性，快速查询可使用缓存，历史订单和统计分析适合大数据平台。我们的项目沿用这一思路，但把范围控制在MySQL、Neo4j和Redis三种数据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系统采用分层结构。用户端和管理端通过Python服务层访问数据库。MySQL负责交易与库存，Neo4j负责换乘搜索，Redis负责快速唤醒后台任务。三者职责清晰，系统即使暂时失去Redis也不会丢失业务数据。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ER模型分为铁路运行、区间库存和用户交易三个领域。车次模板与每日运行实例分离，使不同日期拥有独立库存。订单主体、明细、支付和座位分配分别建模，减少冗余并通过主外键和唯一约束保证完整性。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Python位于客户端和数据库之间，负责接口、参数校验和流程调度。直达查询由MySQL完成。一次换乘先由Neo4j搜索候选路径，再回到MySQL验证运行日期、换乘时间、票价和实时库存。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区间位图解决席位复用问题。每个相邻区段对应一个二进制位，一个运行座位用BIGINT记录整条线路的占用状态。请求位图与占用位图按位与为零，说明区间不冲突。购票按位或，退票按位与非。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位图解决库存表示，并发购票还需要事务锁。系统用FOR UPDATE锁定候选座位，获得锁后重新检查位图。订单、座位分配和库存更新在一个事务内提交，任何一步失败都整体回滚。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系统把订票请求先持久化到MySQL缓冲表，再由Redis快速唤醒工作线程。Redis只保存信号，不保存业务权威状态。即使Redis失效，后台线程仍可通过MySQL轮询继续处理任务。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无票用户的候补请求先持久化到MySQL。退票释放库存后，系统立即触发匹配，后台线程还会定期补偿扫描。队列以创建时间为主序，并允许有限跳过，在公平性和库存利用率之间取得平衡。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系统已经实现用户端的查询、购票和电子车票，也实现了管理端的候补队列实时监控。管理员可以查看相关区间的已支付座位、候补人数、队列顺序和兑现结果。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B23B76B-9AD9-4712-9D2C-3EB7EC6EF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4D36D6D-5AD3-45F2-8364-718442F5B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9EE873B-5D9C-4F23-A847-90B7A80E5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6D5CCBD-0280-4174-9834-C86D91411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4996075-B00B-4B42-9FB3-4DA654902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F1E7360-2687-4A66-9CA8-FCF947D45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F97F6FD-8DE3-4D5A-8640-CFA189421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B19546F9-ADA8-4ED6-8E7E-A89E6B413F7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0EBCCD7-6C79-4A54-AB89-F8EC6C92B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8124ED9-CB93-4628-8E2F-2BD907108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DED10845-1B67-4926-94A7-5C65B36A29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3"/>
          </a:solidFill>
          <a:ln w="0">
            <a:noFill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61E6A9D-7562-42A3-A060-B7177A383E0A}"/>
              </a:ext>
            </a:extLst>
          </p:cNvPr>
          <p:cNvSpPr>
            <a:spLocks noGrp="1"/>
          </p:cNvSpPr>
          <p:nvPr/>
        </p:nvSpPr>
        <p:spPr>
          <a:xfrm>
            <a:off x="-2571750" y="-3714750"/>
            <a:ext cx="11334750" cy="5810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1A7DBD6-BFD4-40D4-9239-F3E4781E72C6}"/>
              </a:ext>
            </a:extLst>
          </p:cNvPr>
          <p:cNvSpPr>
            <a:spLocks noGrp="1"/>
          </p:cNvSpPr>
          <p:nvPr/>
        </p:nvSpPr>
        <p:spPr>
          <a:xfrm>
            <a:off x="5095875" y="-4953000"/>
            <a:ext cx="10001250" cy="6238875"/>
          </a:xfrm>
          <a:prstGeom prst="ellipse">
            <a:avLst/>
          </a:prstGeom>
          <a:solidFill>
            <a:srgbClr val="FFFDFB"/>
          </a:solidFill>
          <a:ln w="0">
            <a:noFill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DE2D258F-5826-4344-A0E3-F2CA46530E30}"/>
              </a:ext>
            </a:extLst>
          </p:cNvPr>
          <p:cNvSpPr>
            <a:spLocks noGrp="1"/>
          </p:cNvSpPr>
          <p:nvPr/>
        </p:nvSpPr>
        <p:spPr>
          <a:xfrm>
            <a:off x="-2857500" y="5334000"/>
            <a:ext cx="10477500" cy="29527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F970096-6C38-49CA-8DB1-C8D5D2E97C39}"/>
              </a:ext>
            </a:extLst>
          </p:cNvPr>
          <p:cNvSpPr>
            <a:spLocks noGrp="1"/>
          </p:cNvSpPr>
          <p:nvPr/>
        </p:nvSpPr>
        <p:spPr>
          <a:xfrm>
            <a:off x="3714750" y="5095875"/>
            <a:ext cx="11239500" cy="3143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D3D6F81-9E2B-4C62-915A-C891C3A98126}"/>
              </a:ext>
            </a:extLst>
          </p:cNvPr>
          <p:cNvSpPr>
            <a:spLocks noGrp="1"/>
          </p:cNvSpPr>
          <p:nvPr/>
        </p:nvSpPr>
        <p:spPr>
          <a:xfrm>
            <a:off x="2286000" y="4495800"/>
            <a:ext cx="10287000" cy="2476500"/>
          </a:xfrm>
          <a:prstGeom prst="ellipse">
            <a:avLst/>
          </a:prstGeom>
          <a:solidFill>
            <a:srgbClr val="FFC89F"/>
          </a:solidFill>
          <a:ln w="0">
            <a:noFill/>
          </a:ln>
        </p:spPr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08220E5-6704-45CF-A054-A1B768ADB4AF}"/>
              </a:ext>
            </a:extLst>
          </p:cNvPr>
          <p:cNvSpPr>
            <a:spLocks noGrp="1"/>
          </p:cNvSpPr>
          <p:nvPr/>
        </p:nvSpPr>
        <p:spPr>
          <a:xfrm>
            <a:off x="7143750" y="4857750"/>
            <a:ext cx="6858000" cy="2381250"/>
          </a:xfrm>
          <a:prstGeom prst="ellipse">
            <a:avLst/>
          </a:prstGeom>
          <a:solidFill>
            <a:srgbClr val="FFB780"/>
          </a:solidFill>
          <a:ln w="0">
            <a:noFill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2DBD82E-4B6D-4813-9668-DC10CB385EC7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5429250"/>
          </a:xfrm>
          <a:prstGeom prst="roundRect">
            <a:avLst>
              <a:gd name="adj" fmla="val 4211"/>
            </a:avLst>
          </a:prstGeom>
          <a:solidFill>
            <a:srgbClr val="FFFDFB"/>
          </a:solidFill>
          <a:ln w="9525">
            <a:solidFill>
              <a:srgbClr val="F6EA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1ACB71E-7465-49B8-9DAD-B8F522ACE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" y="893124"/>
            <a:ext cx="819150" cy="41402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661F36C-CC5B-4F90-9466-5E5CABAD5EDF}"/>
              </a:ext>
            </a:extLst>
          </p:cNvPr>
          <p:cNvSpPr>
            <a:spLocks noGrp="1"/>
          </p:cNvSpPr>
          <p:nvPr/>
        </p:nvSpPr>
        <p:spPr>
          <a:xfrm>
            <a:off x="1162050" y="1295400"/>
            <a:ext cx="7429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676EE8-1BC1-44B4-8FFA-37D7D86C46A1}"/>
              </a:ext>
            </a:extLst>
          </p:cNvPr>
          <p:cNvSpPr>
            <a:spLocks noGrp="1"/>
          </p:cNvSpPr>
          <p:nvPr/>
        </p:nvSpPr>
        <p:spPr>
          <a:xfrm>
            <a:off x="2133600" y="895350"/>
            <a:ext cx="2000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96000"/>
              </a:lnSpc>
              <a:buNone/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>
            <a:pPr algn="l">
              <a:lnSpc>
                <a:spcPct val="96000"/>
              </a:lnSpc>
              <a:buNone/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0F5E397-13FB-4BDA-9B27-8D0CA39F3C5A}"/>
              </a:ext>
            </a:extLst>
          </p:cNvPr>
          <p:cNvSpPr>
            <a:spLocks noGrp="1"/>
          </p:cNvSpPr>
          <p:nvPr/>
        </p:nvSpPr>
        <p:spPr>
          <a:xfrm>
            <a:off x="10191750" y="561975"/>
            <a:ext cx="95250" cy="952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D00E4C8-40F7-46F2-8691-620EB75EBC4C}"/>
              </a:ext>
            </a:extLst>
          </p:cNvPr>
          <p:cNvSpPr>
            <a:spLocks noGrp="1"/>
          </p:cNvSpPr>
          <p:nvPr/>
        </p:nvSpPr>
        <p:spPr>
          <a:xfrm>
            <a:off x="1040130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44BF1682-26A9-4921-B67A-C7AD9BCEA881}"/>
              </a:ext>
            </a:extLst>
          </p:cNvPr>
          <p:cNvSpPr>
            <a:spLocks noGrp="1"/>
          </p:cNvSpPr>
          <p:nvPr/>
        </p:nvSpPr>
        <p:spPr>
          <a:xfrm>
            <a:off x="106108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49D33A8-A14A-4967-9DC8-8107432F8BFD}"/>
              </a:ext>
            </a:extLst>
          </p:cNvPr>
          <p:cNvSpPr>
            <a:spLocks noGrp="1"/>
          </p:cNvSpPr>
          <p:nvPr/>
        </p:nvSpPr>
        <p:spPr>
          <a:xfrm>
            <a:off x="1082040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F3611AD-6740-4C2E-AF51-6637D55DFF3D}"/>
              </a:ext>
            </a:extLst>
          </p:cNvPr>
          <p:cNvSpPr>
            <a:spLocks noGrp="1"/>
          </p:cNvSpPr>
          <p:nvPr/>
        </p:nvSpPr>
        <p:spPr>
          <a:xfrm>
            <a:off x="110299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4C29D34-B41C-4170-873A-7F03163F0948}"/>
              </a:ext>
            </a:extLst>
          </p:cNvPr>
          <p:cNvSpPr>
            <a:spLocks noGrp="1"/>
          </p:cNvSpPr>
          <p:nvPr/>
        </p:nvSpPr>
        <p:spPr>
          <a:xfrm>
            <a:off x="1104900" y="2324100"/>
            <a:ext cx="914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34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34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长三角铁路12306客票系统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0CAF7E5-643D-41C6-9DB1-5882DBC70740}"/>
              </a:ext>
            </a:extLst>
          </p:cNvPr>
          <p:cNvSpPr>
            <a:spLocks noGrp="1"/>
          </p:cNvSpPr>
          <p:nvPr/>
        </p:nvSpPr>
        <p:spPr>
          <a:xfrm>
            <a:off x="1123950" y="3143250"/>
            <a:ext cx="8191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7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7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基于多数据库协作的铁路售票系统设计与实现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D75C419-1EA8-4010-B670-B44515FEEC2A}"/>
              </a:ext>
            </a:extLst>
          </p:cNvPr>
          <p:cNvSpPr>
            <a:spLocks noGrp="1"/>
          </p:cNvSpPr>
          <p:nvPr/>
        </p:nvSpPr>
        <p:spPr>
          <a:xfrm>
            <a:off x="1123950" y="3781425"/>
            <a:ext cx="457200" cy="66675"/>
          </a:xfrm>
          <a:prstGeom prst="roundRect">
            <a:avLst>
              <a:gd name="adj" fmla="val 28571"/>
            </a:avLst>
          </a:prstGeom>
          <a:solidFill>
            <a:srgbClr val="FF7417"/>
          </a:solidFill>
          <a:ln w="0">
            <a:noFill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AAC1D46-612E-47A7-BAAF-3EF591F1D38B}"/>
              </a:ext>
            </a:extLst>
          </p:cNvPr>
          <p:cNvSpPr>
            <a:spLocks noGrp="1"/>
          </p:cNvSpPr>
          <p:nvPr/>
        </p:nvSpPr>
        <p:spPr>
          <a:xfrm>
            <a:off x="1123950" y="4171950"/>
            <a:ext cx="1143000" cy="361950"/>
          </a:xfrm>
          <a:prstGeom prst="roundRect">
            <a:avLst>
              <a:gd name="adj" fmla="val 31579"/>
            </a:avLst>
          </a:prstGeom>
          <a:solidFill>
            <a:srgbClr val="FFF0E5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7F83F1B-0098-4BC4-AC26-6A3481ED79CB}"/>
              </a:ext>
            </a:extLst>
          </p:cNvPr>
          <p:cNvSpPr>
            <a:spLocks noGrp="1"/>
          </p:cNvSpPr>
          <p:nvPr/>
        </p:nvSpPr>
        <p:spPr>
          <a:xfrm>
            <a:off x="1123950" y="4171950"/>
            <a:ext cx="1143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CD0C3F2-7555-4C03-B850-74735F582328}"/>
              </a:ext>
            </a:extLst>
          </p:cNvPr>
          <p:cNvSpPr>
            <a:spLocks noGrp="1"/>
          </p:cNvSpPr>
          <p:nvPr/>
        </p:nvSpPr>
        <p:spPr>
          <a:xfrm>
            <a:off x="2476500" y="4171950"/>
            <a:ext cx="1143000" cy="361950"/>
          </a:xfrm>
          <a:prstGeom prst="roundRect">
            <a:avLst>
              <a:gd name="adj" fmla="val 31579"/>
            </a:avLst>
          </a:prstGeom>
          <a:solidFill>
            <a:srgbClr val="FFF0E5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618672D-CFAE-4CAD-A894-9C3F05A1E60F}"/>
              </a:ext>
            </a:extLst>
          </p:cNvPr>
          <p:cNvSpPr>
            <a:spLocks noGrp="1"/>
          </p:cNvSpPr>
          <p:nvPr/>
        </p:nvSpPr>
        <p:spPr>
          <a:xfrm>
            <a:off x="2476500" y="4171950"/>
            <a:ext cx="1143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Neo4j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9D9223F-6D05-442B-8B74-B8894ACB0279}"/>
              </a:ext>
            </a:extLst>
          </p:cNvPr>
          <p:cNvSpPr>
            <a:spLocks noGrp="1"/>
          </p:cNvSpPr>
          <p:nvPr/>
        </p:nvSpPr>
        <p:spPr>
          <a:xfrm>
            <a:off x="3829050" y="4171950"/>
            <a:ext cx="1143000" cy="361950"/>
          </a:xfrm>
          <a:prstGeom prst="roundRect">
            <a:avLst>
              <a:gd name="adj" fmla="val 31579"/>
            </a:avLst>
          </a:prstGeom>
          <a:solidFill>
            <a:srgbClr val="FFF0E5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7CEC92-D5B4-486E-AC0E-E85BD5D32540}"/>
              </a:ext>
            </a:extLst>
          </p:cNvPr>
          <p:cNvSpPr>
            <a:spLocks noGrp="1"/>
          </p:cNvSpPr>
          <p:nvPr/>
        </p:nvSpPr>
        <p:spPr>
          <a:xfrm>
            <a:off x="3829050" y="4171950"/>
            <a:ext cx="1143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Redis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2BEC85D-E40F-41A3-9946-6AE245A349CA}"/>
              </a:ext>
            </a:extLst>
          </p:cNvPr>
          <p:cNvSpPr>
            <a:spLocks noGrp="1"/>
          </p:cNvSpPr>
          <p:nvPr/>
        </p:nvSpPr>
        <p:spPr>
          <a:xfrm>
            <a:off x="5181600" y="4171950"/>
            <a:ext cx="1143000" cy="361950"/>
          </a:xfrm>
          <a:prstGeom prst="roundRect">
            <a:avLst>
              <a:gd name="adj" fmla="val 31579"/>
            </a:avLst>
          </a:prstGeom>
          <a:solidFill>
            <a:srgbClr val="FFF0E5"/>
          </a:solidFill>
          <a:ln w="0">
            <a:noFill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7AAC498-D708-4F22-A7A2-3232DC959B8A}"/>
              </a:ext>
            </a:extLst>
          </p:cNvPr>
          <p:cNvSpPr>
            <a:spLocks noGrp="1"/>
          </p:cNvSpPr>
          <p:nvPr/>
        </p:nvSpPr>
        <p:spPr>
          <a:xfrm>
            <a:off x="5181600" y="4171950"/>
            <a:ext cx="1143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Python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7958307-1A52-4D37-BCD7-96C25C328513}"/>
              </a:ext>
            </a:extLst>
          </p:cNvPr>
          <p:cNvSpPr>
            <a:spLocks noGrp="1"/>
          </p:cNvSpPr>
          <p:nvPr/>
        </p:nvSpPr>
        <p:spPr>
          <a:xfrm>
            <a:off x="8858250" y="5276850"/>
            <a:ext cx="2057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97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05000"/>
              </a:lnSpc>
              <a:buNone/>
              <a:defRPr sz="97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数据库课程设计汇报</a:t>
            </a:r>
          </a:p>
        </p:txBody>
      </p:sp>
    </p:spTree>
    <p:extLst>
      <p:ext uri="{BB962C8B-B14F-4D97-AF65-F5344CB8AC3E}">
        <p14:creationId xmlns:p14="http://schemas.microsoft.com/office/powerpoint/2010/main" val="2070752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FA538810-7FE3-4F09-8F4D-EBBBD151F3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3"/>
          </a:solidFill>
          <a:ln w="0">
            <a:noFill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005FB46-8227-497F-AB73-6314890E1697}"/>
              </a:ext>
            </a:extLst>
          </p:cNvPr>
          <p:cNvSpPr>
            <a:spLocks noGrp="1"/>
          </p:cNvSpPr>
          <p:nvPr/>
        </p:nvSpPr>
        <p:spPr>
          <a:xfrm>
            <a:off x="-2571750" y="-3714750"/>
            <a:ext cx="11334750" cy="5810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C81BECE-AE92-4A08-ACFC-4B5340902E00}"/>
              </a:ext>
            </a:extLst>
          </p:cNvPr>
          <p:cNvSpPr>
            <a:spLocks noGrp="1"/>
          </p:cNvSpPr>
          <p:nvPr/>
        </p:nvSpPr>
        <p:spPr>
          <a:xfrm>
            <a:off x="5095875" y="-4953000"/>
            <a:ext cx="10001250" cy="6238875"/>
          </a:xfrm>
          <a:prstGeom prst="ellipse">
            <a:avLst/>
          </a:prstGeom>
          <a:solidFill>
            <a:srgbClr val="FFFDFB"/>
          </a:solidFill>
          <a:ln w="0">
            <a:noFill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9F09F4F-C645-47BA-9091-0861B0E767C8}"/>
              </a:ext>
            </a:extLst>
          </p:cNvPr>
          <p:cNvSpPr>
            <a:spLocks noGrp="1"/>
          </p:cNvSpPr>
          <p:nvPr/>
        </p:nvSpPr>
        <p:spPr>
          <a:xfrm>
            <a:off x="-2857500" y="5334000"/>
            <a:ext cx="10477500" cy="29527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D751369-E483-4B2F-8003-E80ED1EA00D4}"/>
              </a:ext>
            </a:extLst>
          </p:cNvPr>
          <p:cNvSpPr>
            <a:spLocks noGrp="1"/>
          </p:cNvSpPr>
          <p:nvPr/>
        </p:nvSpPr>
        <p:spPr>
          <a:xfrm>
            <a:off x="3714750" y="5095875"/>
            <a:ext cx="11239500" cy="3143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49E62CD-0FA6-4578-908B-B07016AC56B2}"/>
              </a:ext>
            </a:extLst>
          </p:cNvPr>
          <p:cNvSpPr>
            <a:spLocks noGrp="1"/>
          </p:cNvSpPr>
          <p:nvPr/>
        </p:nvSpPr>
        <p:spPr>
          <a:xfrm>
            <a:off x="2286000" y="4495800"/>
            <a:ext cx="10287000" cy="2476500"/>
          </a:xfrm>
          <a:prstGeom prst="ellipse">
            <a:avLst/>
          </a:prstGeom>
          <a:solidFill>
            <a:srgbClr val="FFC89F"/>
          </a:solidFill>
          <a:ln w="0">
            <a:noFill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2FBFF7C-68EE-424C-A91C-5F7614CFF8D1}"/>
              </a:ext>
            </a:extLst>
          </p:cNvPr>
          <p:cNvSpPr>
            <a:spLocks noGrp="1"/>
          </p:cNvSpPr>
          <p:nvPr/>
        </p:nvSpPr>
        <p:spPr>
          <a:xfrm>
            <a:off x="438150" y="285750"/>
            <a:ext cx="11315700" cy="6286500"/>
          </a:xfrm>
          <a:prstGeom prst="roundRect">
            <a:avLst>
              <a:gd name="adj" fmla="val 3636"/>
            </a:avLst>
          </a:prstGeom>
          <a:solidFill>
            <a:srgbClr val="FFFDFB"/>
          </a:solidFill>
          <a:ln w="9525">
            <a:solidFill>
              <a:srgbClr val="F4E9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C61E1F2-EF0A-488D-9624-9F0589CC5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503324"/>
            <a:ext cx="552450" cy="27922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4643E91-5D17-4331-B01C-32D5943F63B6}"/>
              </a:ext>
            </a:extLst>
          </p:cNvPr>
          <p:cNvSpPr>
            <a:spLocks noGrp="1"/>
          </p:cNvSpPr>
          <p:nvPr/>
        </p:nvSpPr>
        <p:spPr>
          <a:xfrm>
            <a:off x="781050" y="762000"/>
            <a:ext cx="476250" cy="114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100F40-4183-400A-90BC-6BFF2D13F395}"/>
              </a:ext>
            </a:extLst>
          </p:cNvPr>
          <p:cNvSpPr>
            <a:spLocks noGrp="1"/>
          </p:cNvSpPr>
          <p:nvPr/>
        </p:nvSpPr>
        <p:spPr>
          <a:xfrm>
            <a:off x="1409700" y="514350"/>
            <a:ext cx="135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1BB8E4D-EA70-4BAA-B5AE-56FE910C72B2}"/>
              </a:ext>
            </a:extLst>
          </p:cNvPr>
          <p:cNvSpPr>
            <a:spLocks noGrp="1"/>
          </p:cNvSpPr>
          <p:nvPr/>
        </p:nvSpPr>
        <p:spPr>
          <a:xfrm>
            <a:off x="10191750" y="561975"/>
            <a:ext cx="95250" cy="952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0A388AC-BF3D-4741-902D-AD78A640DF57}"/>
              </a:ext>
            </a:extLst>
          </p:cNvPr>
          <p:cNvSpPr>
            <a:spLocks noGrp="1"/>
          </p:cNvSpPr>
          <p:nvPr/>
        </p:nvSpPr>
        <p:spPr>
          <a:xfrm>
            <a:off x="1040130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559CE8D-900F-4FF8-9C2B-A3460C591403}"/>
              </a:ext>
            </a:extLst>
          </p:cNvPr>
          <p:cNvSpPr>
            <a:spLocks noGrp="1"/>
          </p:cNvSpPr>
          <p:nvPr/>
        </p:nvSpPr>
        <p:spPr>
          <a:xfrm>
            <a:off x="106108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0A7B941-53EC-4852-A8E3-CCCD70AF6B4B}"/>
              </a:ext>
            </a:extLst>
          </p:cNvPr>
          <p:cNvSpPr>
            <a:spLocks noGrp="1"/>
          </p:cNvSpPr>
          <p:nvPr/>
        </p:nvSpPr>
        <p:spPr>
          <a:xfrm>
            <a:off x="1082040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A238644-0838-42D9-9351-E5940B3CC867}"/>
              </a:ext>
            </a:extLst>
          </p:cNvPr>
          <p:cNvSpPr>
            <a:spLocks noGrp="1"/>
          </p:cNvSpPr>
          <p:nvPr/>
        </p:nvSpPr>
        <p:spPr>
          <a:xfrm>
            <a:off x="110299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1852BA-FFCC-43FE-81B2-0B3A9CE88E64}"/>
              </a:ext>
            </a:extLst>
          </p:cNvPr>
          <p:cNvSpPr>
            <a:spLocks noGrp="1"/>
          </p:cNvSpPr>
          <p:nvPr/>
        </p:nvSpPr>
        <p:spPr>
          <a:xfrm>
            <a:off x="11049000" y="49530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21F1431-66F2-45A3-B2F0-FEE5D0DAD3D9}"/>
              </a:ext>
            </a:extLst>
          </p:cNvPr>
          <p:cNvSpPr>
            <a:spLocks noGrp="1"/>
          </p:cNvSpPr>
          <p:nvPr/>
        </p:nvSpPr>
        <p:spPr>
          <a:xfrm>
            <a:off x="800100" y="1181100"/>
            <a:ext cx="133350" cy="228600"/>
          </a:xfrm>
          <a:prstGeom prst="roundRect">
            <a:avLst>
              <a:gd name="adj" fmla="val 14286"/>
            </a:avLst>
          </a:prstGeom>
          <a:solidFill>
            <a:srgbClr val="FF7417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A9D73B-C948-4968-B04A-DBAA2CA07E68}"/>
              </a:ext>
            </a:extLst>
          </p:cNvPr>
          <p:cNvSpPr>
            <a:spLocks noGrp="1"/>
          </p:cNvSpPr>
          <p:nvPr/>
        </p:nvSpPr>
        <p:spPr>
          <a:xfrm>
            <a:off x="1104900" y="1066800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真实12306的数据库挑战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6D2FCE-F95C-4E93-8B58-92EB55A44498}"/>
              </a:ext>
            </a:extLst>
          </p:cNvPr>
          <p:cNvSpPr>
            <a:spLocks noGrp="1"/>
          </p:cNvSpPr>
          <p:nvPr/>
        </p:nvSpPr>
        <p:spPr>
          <a:xfrm>
            <a:off x="800100" y="1676400"/>
            <a:ext cx="10648950" cy="9525"/>
          </a:xfrm>
          <a:prstGeom prst="rect">
            <a:avLst/>
          </a:prstGeom>
          <a:solidFill>
            <a:srgbClr val="EEE5DE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2CB716C-F826-4939-A124-D7D759A1B686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1952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2,973.7万张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F62F8CF-D685-4AE2-9361-26A09B7C3304}"/>
              </a:ext>
            </a:extLst>
          </p:cNvPr>
          <p:cNvSpPr>
            <a:spLocks noGrp="1"/>
          </p:cNvSpPr>
          <p:nvPr/>
        </p:nvSpPr>
        <p:spPr>
          <a:xfrm>
            <a:off x="876300" y="2409825"/>
            <a:ext cx="19526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单日售票峰值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74A9A29-DB68-4860-917C-35DA62DB5B7C}"/>
              </a:ext>
            </a:extLst>
          </p:cNvPr>
          <p:cNvSpPr>
            <a:spLocks noGrp="1"/>
          </p:cNvSpPr>
          <p:nvPr/>
        </p:nvSpPr>
        <p:spPr>
          <a:xfrm>
            <a:off x="2952750" y="2000250"/>
            <a:ext cx="1952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百万次/秒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52D1EBA-4B32-4CAD-ABF1-7D17B42401CA}"/>
              </a:ext>
            </a:extLst>
          </p:cNvPr>
          <p:cNvSpPr>
            <a:spLocks noGrp="1"/>
          </p:cNvSpPr>
          <p:nvPr/>
        </p:nvSpPr>
        <p:spPr>
          <a:xfrm>
            <a:off x="2952750" y="2409825"/>
            <a:ext cx="19526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春运高峰访问量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AEC776B-E1B0-45D2-9209-354D3F41334C}"/>
              </a:ext>
            </a:extLst>
          </p:cNvPr>
          <p:cNvSpPr>
            <a:spLocks noGrp="1"/>
          </p:cNvSpPr>
          <p:nvPr/>
        </p:nvSpPr>
        <p:spPr>
          <a:xfrm>
            <a:off x="876300" y="2781300"/>
            <a:ext cx="4000500" cy="9525"/>
          </a:xfrm>
          <a:prstGeom prst="rect">
            <a:avLst/>
          </a:prstGeom>
          <a:solidFill>
            <a:srgbClr val="EEE5DE"/>
          </a:solidFill>
          <a:ln w="0">
            <a:noFill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E83EC1C-BCED-4F72-808D-0A9CDB78C4C6}"/>
              </a:ext>
            </a:extLst>
          </p:cNvPr>
          <p:cNvSpPr>
            <a:spLocks noGrp="1"/>
          </p:cNvSpPr>
          <p:nvPr/>
        </p:nvSpPr>
        <p:spPr>
          <a:xfrm>
            <a:off x="876300" y="3067050"/>
            <a:ext cx="914400" cy="304800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0">
            <a:noFill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8851468-6626-47C4-8365-3C3C5E12BFB5}"/>
              </a:ext>
            </a:extLst>
          </p:cNvPr>
          <p:cNvSpPr>
            <a:spLocks noGrp="1"/>
          </p:cNvSpPr>
          <p:nvPr/>
        </p:nvSpPr>
        <p:spPr>
          <a:xfrm>
            <a:off x="876300" y="3067050"/>
            <a:ext cx="914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13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1013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rPr>
              <a:t>请求洪峰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7F0A4A5-ADC4-4F0F-9045-1DB4EBA20DB6}"/>
              </a:ext>
            </a:extLst>
          </p:cNvPr>
          <p:cNvSpPr>
            <a:spLocks noGrp="1"/>
          </p:cNvSpPr>
          <p:nvPr/>
        </p:nvSpPr>
        <p:spPr>
          <a:xfrm>
            <a:off x="1981200" y="30289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交易请求先排队再进入分布式服务，避免瞬时流量直接冲击库存库。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620C44E-561C-4FA0-A4F2-682C20CE3FA9}"/>
              </a:ext>
            </a:extLst>
          </p:cNvPr>
          <p:cNvSpPr>
            <a:spLocks noGrp="1"/>
          </p:cNvSpPr>
          <p:nvPr/>
        </p:nvSpPr>
        <p:spPr>
          <a:xfrm>
            <a:off x="876300" y="3924300"/>
            <a:ext cx="914400" cy="304800"/>
          </a:xfrm>
          <a:prstGeom prst="roundRect">
            <a:avLst>
              <a:gd name="adj" fmla="val 25000"/>
            </a:avLst>
          </a:prstGeom>
          <a:solidFill>
            <a:srgbClr val="FF7417"/>
          </a:solidFill>
          <a:ln w="0">
            <a:noFill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7D8E923-7019-4B02-9CB5-8E488DC28D74}"/>
              </a:ext>
            </a:extLst>
          </p:cNvPr>
          <p:cNvSpPr>
            <a:spLocks noGrp="1"/>
          </p:cNvSpPr>
          <p:nvPr/>
        </p:nvSpPr>
        <p:spPr>
          <a:xfrm>
            <a:off x="876300" y="3924300"/>
            <a:ext cx="914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区间库存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EB24ACE-B582-49E0-9F30-89B60E58947B}"/>
              </a:ext>
            </a:extLst>
          </p:cNvPr>
          <p:cNvSpPr>
            <a:spLocks noGrp="1"/>
          </p:cNvSpPr>
          <p:nvPr/>
        </p:nvSpPr>
        <p:spPr>
          <a:xfrm>
            <a:off x="1981200" y="388620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余票按运行区间计算，同一席位可在互不重叠的区段重复出售。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BE651C53-C0E0-496B-88ED-A74092C76591}"/>
              </a:ext>
            </a:extLst>
          </p:cNvPr>
          <p:cNvSpPr>
            <a:spLocks noGrp="1"/>
          </p:cNvSpPr>
          <p:nvPr/>
        </p:nvSpPr>
        <p:spPr>
          <a:xfrm>
            <a:off x="876300" y="4781550"/>
            <a:ext cx="914400" cy="304800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0">
            <a:noFill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FD66405-ADD1-4DEF-A597-5DCDD006915B}"/>
              </a:ext>
            </a:extLst>
          </p:cNvPr>
          <p:cNvSpPr>
            <a:spLocks noGrp="1"/>
          </p:cNvSpPr>
          <p:nvPr/>
        </p:nvSpPr>
        <p:spPr>
          <a:xfrm>
            <a:off x="876300" y="4781550"/>
            <a:ext cx="914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13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1013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rPr>
              <a:t>交易一致性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369B0C1-61C1-4A72-8646-5BF4330596DD}"/>
              </a:ext>
            </a:extLst>
          </p:cNvPr>
          <p:cNvSpPr>
            <a:spLocks noGrp="1"/>
          </p:cNvSpPr>
          <p:nvPr/>
        </p:nvSpPr>
        <p:spPr>
          <a:xfrm>
            <a:off x="1981200" y="47434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占座、支付、退票与候补兑现必须处于可回滚的事务边界内。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072C9C9E-0404-4C13-B349-69BD44CF2ED1}"/>
              </a:ext>
            </a:extLst>
          </p:cNvPr>
          <p:cNvSpPr>
            <a:spLocks noGrp="1"/>
          </p:cNvSpPr>
          <p:nvPr/>
        </p:nvSpPr>
        <p:spPr>
          <a:xfrm>
            <a:off x="5429250" y="1924050"/>
            <a:ext cx="5734050" cy="4095750"/>
          </a:xfrm>
          <a:prstGeom prst="roundRect">
            <a:avLst>
              <a:gd name="adj" fmla="val 3721"/>
            </a:avLst>
          </a:prstGeom>
          <a:solidFill>
            <a:srgbClr val="FFF8F2"/>
          </a:solidFill>
          <a:ln w="9525">
            <a:solidFill>
              <a:srgbClr val="FFD7B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993F581E-A074-43B4-9874-CBC277ED5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090390" y="2038350"/>
            <a:ext cx="2411771" cy="3867150"/>
          </a:xfrm>
          <a:prstGeom prst="roundRect">
            <a:avLst>
              <a:gd name="adj" fmla="val 2956"/>
            </a:avLst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EDBC34AD-4504-4D2D-81E8-452CDA8A1323}"/>
              </a:ext>
            </a:extLst>
          </p:cNvPr>
          <p:cNvSpPr>
            <a:spLocks noGrp="1"/>
          </p:cNvSpPr>
          <p:nvPr/>
        </p:nvSpPr>
        <p:spPr>
          <a:xfrm>
            <a:off x="838200" y="6229350"/>
            <a:ext cx="1042987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数据图来源：中国国家铁路集团有限公司公开信息；访问量与售票量采用不同统计口径</a:t>
            </a:r>
          </a:p>
        </p:txBody>
      </p:sp>
    </p:spTree>
    <p:extLst>
      <p:ext uri="{BB962C8B-B14F-4D97-AF65-F5344CB8AC3E}">
        <p14:creationId xmlns:p14="http://schemas.microsoft.com/office/powerpoint/2010/main" val="288150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D98F33F4-3546-4B49-A379-9855BFE86E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3"/>
          </a:solidFill>
          <a:ln w="0">
            <a:noFill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EABAC6C-8D34-44A4-9AD6-74111D0F1092}"/>
              </a:ext>
            </a:extLst>
          </p:cNvPr>
          <p:cNvSpPr>
            <a:spLocks noGrp="1"/>
          </p:cNvSpPr>
          <p:nvPr/>
        </p:nvSpPr>
        <p:spPr>
          <a:xfrm>
            <a:off x="-2571750" y="-3714750"/>
            <a:ext cx="11334750" cy="5810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0F79761-A15C-4D4F-B9F3-9DD287AEA896}"/>
              </a:ext>
            </a:extLst>
          </p:cNvPr>
          <p:cNvSpPr>
            <a:spLocks noGrp="1"/>
          </p:cNvSpPr>
          <p:nvPr/>
        </p:nvSpPr>
        <p:spPr>
          <a:xfrm>
            <a:off x="5095875" y="-4953000"/>
            <a:ext cx="10001250" cy="6238875"/>
          </a:xfrm>
          <a:prstGeom prst="ellipse">
            <a:avLst/>
          </a:prstGeom>
          <a:solidFill>
            <a:srgbClr val="FFFDFB"/>
          </a:solidFill>
          <a:ln w="0">
            <a:noFill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9E2D958-8A87-41F5-9A24-19D93279A2F6}"/>
              </a:ext>
            </a:extLst>
          </p:cNvPr>
          <p:cNvSpPr>
            <a:spLocks noGrp="1"/>
          </p:cNvSpPr>
          <p:nvPr/>
        </p:nvSpPr>
        <p:spPr>
          <a:xfrm>
            <a:off x="-2857500" y="5334000"/>
            <a:ext cx="10477500" cy="29527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51CA5F9-ED6F-402D-B883-A888DA89E7B7}"/>
              </a:ext>
            </a:extLst>
          </p:cNvPr>
          <p:cNvSpPr>
            <a:spLocks noGrp="1"/>
          </p:cNvSpPr>
          <p:nvPr/>
        </p:nvSpPr>
        <p:spPr>
          <a:xfrm>
            <a:off x="3714750" y="5095875"/>
            <a:ext cx="11239500" cy="3143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32B542F-4A9D-4599-B384-55C663D37FAA}"/>
              </a:ext>
            </a:extLst>
          </p:cNvPr>
          <p:cNvSpPr>
            <a:spLocks noGrp="1"/>
          </p:cNvSpPr>
          <p:nvPr/>
        </p:nvSpPr>
        <p:spPr>
          <a:xfrm>
            <a:off x="2286000" y="4495800"/>
            <a:ext cx="10287000" cy="2476500"/>
          </a:xfrm>
          <a:prstGeom prst="ellipse">
            <a:avLst/>
          </a:prstGeom>
          <a:solidFill>
            <a:srgbClr val="FFC89F"/>
          </a:solidFill>
          <a:ln w="0">
            <a:noFill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4134D0C-FB51-483F-8A42-2DB0E6AF3FD3}"/>
              </a:ext>
            </a:extLst>
          </p:cNvPr>
          <p:cNvSpPr>
            <a:spLocks noGrp="1"/>
          </p:cNvSpPr>
          <p:nvPr/>
        </p:nvSpPr>
        <p:spPr>
          <a:xfrm>
            <a:off x="438150" y="285750"/>
            <a:ext cx="11315700" cy="6286500"/>
          </a:xfrm>
          <a:prstGeom prst="roundRect">
            <a:avLst>
              <a:gd name="adj" fmla="val 3636"/>
            </a:avLst>
          </a:prstGeom>
          <a:solidFill>
            <a:srgbClr val="FFFDFB"/>
          </a:solidFill>
          <a:ln w="9525">
            <a:solidFill>
              <a:srgbClr val="F4E9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3C2140C-8477-48BA-8068-3C2D58F3D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503324"/>
            <a:ext cx="552450" cy="27922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D527AD0-5DE0-47BE-A1CC-B9D9534B6793}"/>
              </a:ext>
            </a:extLst>
          </p:cNvPr>
          <p:cNvSpPr>
            <a:spLocks noGrp="1"/>
          </p:cNvSpPr>
          <p:nvPr/>
        </p:nvSpPr>
        <p:spPr>
          <a:xfrm>
            <a:off x="781050" y="762000"/>
            <a:ext cx="476250" cy="114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491F65-402F-4489-A361-B57FB297C0D8}"/>
              </a:ext>
            </a:extLst>
          </p:cNvPr>
          <p:cNvSpPr>
            <a:spLocks noGrp="1"/>
          </p:cNvSpPr>
          <p:nvPr/>
        </p:nvSpPr>
        <p:spPr>
          <a:xfrm>
            <a:off x="1409700" y="514350"/>
            <a:ext cx="135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858E708-6788-4320-A1BC-0A8ADB6AEB2E}"/>
              </a:ext>
            </a:extLst>
          </p:cNvPr>
          <p:cNvSpPr>
            <a:spLocks noGrp="1"/>
          </p:cNvSpPr>
          <p:nvPr/>
        </p:nvSpPr>
        <p:spPr>
          <a:xfrm>
            <a:off x="101917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6F1B19C-4FEA-4BD6-949C-E68222184E46}"/>
              </a:ext>
            </a:extLst>
          </p:cNvPr>
          <p:cNvSpPr>
            <a:spLocks noGrp="1"/>
          </p:cNvSpPr>
          <p:nvPr/>
        </p:nvSpPr>
        <p:spPr>
          <a:xfrm>
            <a:off x="10401300" y="561975"/>
            <a:ext cx="95250" cy="952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1DD71F7-4FD3-4F1B-BA74-1854294A4BA4}"/>
              </a:ext>
            </a:extLst>
          </p:cNvPr>
          <p:cNvSpPr>
            <a:spLocks noGrp="1"/>
          </p:cNvSpPr>
          <p:nvPr/>
        </p:nvSpPr>
        <p:spPr>
          <a:xfrm>
            <a:off x="106108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57C5EBF-A96E-4E84-BB00-3D681DBA3CE6}"/>
              </a:ext>
            </a:extLst>
          </p:cNvPr>
          <p:cNvSpPr>
            <a:spLocks noGrp="1"/>
          </p:cNvSpPr>
          <p:nvPr/>
        </p:nvSpPr>
        <p:spPr>
          <a:xfrm>
            <a:off x="1082040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D65CA46-DE52-4833-B9C0-4D073826DD75}"/>
              </a:ext>
            </a:extLst>
          </p:cNvPr>
          <p:cNvSpPr>
            <a:spLocks noGrp="1"/>
          </p:cNvSpPr>
          <p:nvPr/>
        </p:nvSpPr>
        <p:spPr>
          <a:xfrm>
            <a:off x="110299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8FFB95D-DD73-4ED2-B8C3-6FE283847280}"/>
              </a:ext>
            </a:extLst>
          </p:cNvPr>
          <p:cNvSpPr>
            <a:spLocks noGrp="1"/>
          </p:cNvSpPr>
          <p:nvPr/>
        </p:nvSpPr>
        <p:spPr>
          <a:xfrm>
            <a:off x="11049000" y="49530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5E808E5-08EF-4E55-9517-E888E28F27D8}"/>
              </a:ext>
            </a:extLst>
          </p:cNvPr>
          <p:cNvSpPr>
            <a:spLocks noGrp="1"/>
          </p:cNvSpPr>
          <p:nvPr/>
        </p:nvSpPr>
        <p:spPr>
          <a:xfrm>
            <a:off x="800100" y="1181100"/>
            <a:ext cx="133350" cy="228600"/>
          </a:xfrm>
          <a:prstGeom prst="roundRect">
            <a:avLst>
              <a:gd name="adj" fmla="val 14286"/>
            </a:avLst>
          </a:prstGeom>
          <a:solidFill>
            <a:srgbClr val="FF7417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A9D46C6-A7C1-4F3A-8C48-803B8E2FFAD1}"/>
              </a:ext>
            </a:extLst>
          </p:cNvPr>
          <p:cNvSpPr>
            <a:spLocks noGrp="1"/>
          </p:cNvSpPr>
          <p:nvPr/>
        </p:nvSpPr>
        <p:spPr>
          <a:xfrm>
            <a:off x="1104900" y="1066800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真实客票系统7.0总体架构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CA02A2D-565F-4F74-9124-E2F6653416A1}"/>
              </a:ext>
            </a:extLst>
          </p:cNvPr>
          <p:cNvSpPr>
            <a:spLocks noGrp="1"/>
          </p:cNvSpPr>
          <p:nvPr/>
        </p:nvSpPr>
        <p:spPr>
          <a:xfrm>
            <a:off x="800100" y="1676400"/>
            <a:ext cx="10648950" cy="9525"/>
          </a:xfrm>
          <a:prstGeom prst="rect">
            <a:avLst/>
          </a:prstGeom>
          <a:solidFill>
            <a:srgbClr val="EEE5DE"/>
          </a:solidFill>
          <a:ln w="0">
            <a:noFill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945F185-A881-43A1-AEC9-81667A87B7FF}"/>
              </a:ext>
            </a:extLst>
          </p:cNvPr>
          <p:cNvSpPr>
            <a:spLocks noGrp="1"/>
          </p:cNvSpPr>
          <p:nvPr/>
        </p:nvSpPr>
        <p:spPr>
          <a:xfrm>
            <a:off x="800100" y="1952625"/>
            <a:ext cx="7239000" cy="4000500"/>
          </a:xfrm>
          <a:prstGeom prst="roundRect">
            <a:avLst>
              <a:gd name="adj" fmla="val 3810"/>
            </a:avLst>
          </a:prstGeom>
          <a:solidFill>
            <a:srgbClr val="FFF8F2"/>
          </a:solidFill>
          <a:ln w="9525">
            <a:solidFill>
              <a:srgbClr val="FFD7B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B211F13-F24C-43AE-8866-1083331CF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30357" y="2066925"/>
            <a:ext cx="6778487" cy="3771900"/>
          </a:xfrm>
          <a:prstGeom prst="roundRect">
            <a:avLst>
              <a:gd name="adj" fmla="val 3030"/>
            </a:avLst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1AB49722-4057-4B93-A0EF-847C982EC761}"/>
              </a:ext>
            </a:extLst>
          </p:cNvPr>
          <p:cNvSpPr>
            <a:spLocks noGrp="1"/>
          </p:cNvSpPr>
          <p:nvPr/>
        </p:nvSpPr>
        <p:spPr>
          <a:xfrm>
            <a:off x="8420100" y="2095500"/>
            <a:ext cx="266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多中心协同保证连续服务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443E426-AFC0-4230-9EA8-0C033460C282}"/>
              </a:ext>
            </a:extLst>
          </p:cNvPr>
          <p:cNvSpPr>
            <a:spLocks noGrp="1"/>
          </p:cNvSpPr>
          <p:nvPr/>
        </p:nvSpPr>
        <p:spPr>
          <a:xfrm>
            <a:off x="8420100" y="27241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双中心运行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B8E3F8E-285D-4FF9-A985-7B8DB9AB94BF}"/>
              </a:ext>
            </a:extLst>
          </p:cNvPr>
          <p:cNvSpPr>
            <a:spLocks noGrp="1"/>
          </p:cNvSpPr>
          <p:nvPr/>
        </p:nvSpPr>
        <p:spPr>
          <a:xfrm>
            <a:off x="8420100" y="3048000"/>
            <a:ext cx="438150" cy="28575"/>
          </a:xfrm>
          <a:prstGeom prst="rect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69B616F-09F2-4588-BB0B-D38F03BF3E5B}"/>
              </a:ext>
            </a:extLst>
          </p:cNvPr>
          <p:cNvSpPr>
            <a:spLocks noGrp="1"/>
          </p:cNvSpPr>
          <p:nvPr/>
        </p:nvSpPr>
        <p:spPr>
          <a:xfrm>
            <a:off x="8420100" y="3124200"/>
            <a:ext cx="2571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050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武清数据中心与同城数据中心同步承载核心售票业务。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0B04430-A4C0-4B91-981C-5D389BB0AFAB}"/>
              </a:ext>
            </a:extLst>
          </p:cNvPr>
          <p:cNvSpPr>
            <a:spLocks noGrp="1"/>
          </p:cNvSpPr>
          <p:nvPr/>
        </p:nvSpPr>
        <p:spPr>
          <a:xfrm>
            <a:off x="8420100" y="37528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异地灾备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FB61082-A048-450D-A0EF-C62C7B44E0C9}"/>
              </a:ext>
            </a:extLst>
          </p:cNvPr>
          <p:cNvSpPr>
            <a:spLocks noGrp="1"/>
          </p:cNvSpPr>
          <p:nvPr/>
        </p:nvSpPr>
        <p:spPr>
          <a:xfrm>
            <a:off x="8420100" y="4076700"/>
            <a:ext cx="438150" cy="28575"/>
          </a:xfrm>
          <a:prstGeom prst="rect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E695C2E-F1D5-44FF-91AA-60691072D0B2}"/>
              </a:ext>
            </a:extLst>
          </p:cNvPr>
          <p:cNvSpPr>
            <a:spLocks noGrp="1"/>
          </p:cNvSpPr>
          <p:nvPr/>
        </p:nvSpPr>
        <p:spPr>
          <a:xfrm>
            <a:off x="8420100" y="4152900"/>
            <a:ext cx="2571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050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灾备中心复制关键业务数据，在区域故障时提供恢复能力。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14BE52A-E6D3-46B4-AA0B-7175FF23A9FE}"/>
              </a:ext>
            </a:extLst>
          </p:cNvPr>
          <p:cNvSpPr>
            <a:spLocks noGrp="1"/>
          </p:cNvSpPr>
          <p:nvPr/>
        </p:nvSpPr>
        <p:spPr>
          <a:xfrm>
            <a:off x="8420100" y="47815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多网接入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EC495F6-1F1E-4CAC-8EAE-818659204802}"/>
              </a:ext>
            </a:extLst>
          </p:cNvPr>
          <p:cNvSpPr>
            <a:spLocks noGrp="1"/>
          </p:cNvSpPr>
          <p:nvPr/>
        </p:nvSpPr>
        <p:spPr>
          <a:xfrm>
            <a:off x="8420100" y="5105400"/>
            <a:ext cx="438150" cy="28575"/>
          </a:xfrm>
          <a:prstGeom prst="rect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6DAFDD6-88D7-4D39-994A-0BE52582CB2A}"/>
              </a:ext>
            </a:extLst>
          </p:cNvPr>
          <p:cNvSpPr>
            <a:spLocks noGrp="1"/>
          </p:cNvSpPr>
          <p:nvPr/>
        </p:nvSpPr>
        <p:spPr>
          <a:xfrm>
            <a:off x="8420100" y="5181600"/>
            <a:ext cx="2571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050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铁路专网连接站内终端，移动网络服务互联网与移动终端。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EB9AED1-E1AA-44BD-835E-D083D87722E1}"/>
              </a:ext>
            </a:extLst>
          </p:cNvPr>
          <p:cNvSpPr>
            <a:spLocks noGrp="1"/>
          </p:cNvSpPr>
          <p:nvPr/>
        </p:nvSpPr>
        <p:spPr>
          <a:xfrm>
            <a:off x="838200" y="6229350"/>
            <a:ext cx="1042987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图示来源：用户提供的《铁路客票系统7.0架构设计》相关资料</a:t>
            </a:r>
          </a:p>
        </p:txBody>
      </p:sp>
    </p:spTree>
    <p:extLst>
      <p:ext uri="{BB962C8B-B14F-4D97-AF65-F5344CB8AC3E}">
        <p14:creationId xmlns:p14="http://schemas.microsoft.com/office/powerpoint/2010/main" val="77048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75686968-C9C0-4F93-A3E7-0B125E1554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3"/>
          </a:solidFill>
          <a:ln w="0">
            <a:noFill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65A0E24-CE7A-4E99-9B66-0DFA271C5F3C}"/>
              </a:ext>
            </a:extLst>
          </p:cNvPr>
          <p:cNvSpPr>
            <a:spLocks noGrp="1"/>
          </p:cNvSpPr>
          <p:nvPr/>
        </p:nvSpPr>
        <p:spPr>
          <a:xfrm>
            <a:off x="-2571750" y="-3714750"/>
            <a:ext cx="11334750" cy="5810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DF8EAA3-1217-4D2E-BF04-0EBFEFADD3F3}"/>
              </a:ext>
            </a:extLst>
          </p:cNvPr>
          <p:cNvSpPr>
            <a:spLocks noGrp="1"/>
          </p:cNvSpPr>
          <p:nvPr/>
        </p:nvSpPr>
        <p:spPr>
          <a:xfrm>
            <a:off x="5095875" y="-4953000"/>
            <a:ext cx="10001250" cy="6238875"/>
          </a:xfrm>
          <a:prstGeom prst="ellipse">
            <a:avLst/>
          </a:prstGeom>
          <a:solidFill>
            <a:srgbClr val="FFFDFB"/>
          </a:solidFill>
          <a:ln w="0">
            <a:noFill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B4E4D7E-6ED1-473C-9389-FAD7614C24E0}"/>
              </a:ext>
            </a:extLst>
          </p:cNvPr>
          <p:cNvSpPr>
            <a:spLocks noGrp="1"/>
          </p:cNvSpPr>
          <p:nvPr/>
        </p:nvSpPr>
        <p:spPr>
          <a:xfrm>
            <a:off x="-2857500" y="5334000"/>
            <a:ext cx="10477500" cy="29527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01E3D27-A991-4DEF-AB50-E7590DCFA745}"/>
              </a:ext>
            </a:extLst>
          </p:cNvPr>
          <p:cNvSpPr>
            <a:spLocks noGrp="1"/>
          </p:cNvSpPr>
          <p:nvPr/>
        </p:nvSpPr>
        <p:spPr>
          <a:xfrm>
            <a:off x="3714750" y="5095875"/>
            <a:ext cx="11239500" cy="3143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780A831-26ED-43C7-BDCA-A714A7482361}"/>
              </a:ext>
            </a:extLst>
          </p:cNvPr>
          <p:cNvSpPr>
            <a:spLocks noGrp="1"/>
          </p:cNvSpPr>
          <p:nvPr/>
        </p:nvSpPr>
        <p:spPr>
          <a:xfrm>
            <a:off x="2286000" y="4495800"/>
            <a:ext cx="10287000" cy="2476500"/>
          </a:xfrm>
          <a:prstGeom prst="ellipse">
            <a:avLst/>
          </a:prstGeom>
          <a:solidFill>
            <a:srgbClr val="FFC89F"/>
          </a:solidFill>
          <a:ln w="0">
            <a:noFill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E6B2382-E0BE-4B86-A1DC-E0E85247CB9F}"/>
              </a:ext>
            </a:extLst>
          </p:cNvPr>
          <p:cNvSpPr>
            <a:spLocks noGrp="1"/>
          </p:cNvSpPr>
          <p:nvPr/>
        </p:nvSpPr>
        <p:spPr>
          <a:xfrm>
            <a:off x="438150" y="285750"/>
            <a:ext cx="11315700" cy="6286500"/>
          </a:xfrm>
          <a:prstGeom prst="roundRect">
            <a:avLst>
              <a:gd name="adj" fmla="val 3636"/>
            </a:avLst>
          </a:prstGeom>
          <a:solidFill>
            <a:srgbClr val="FFFDFB"/>
          </a:solidFill>
          <a:ln w="9525">
            <a:solidFill>
              <a:srgbClr val="F4E9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605F328-22CE-4B6C-9B47-9D1A9DD49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503324"/>
            <a:ext cx="552450" cy="27922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DAE4CAB-6287-4B6F-AC23-2F609B6FC2C4}"/>
              </a:ext>
            </a:extLst>
          </p:cNvPr>
          <p:cNvSpPr>
            <a:spLocks noGrp="1"/>
          </p:cNvSpPr>
          <p:nvPr/>
        </p:nvSpPr>
        <p:spPr>
          <a:xfrm>
            <a:off x="781050" y="762000"/>
            <a:ext cx="476250" cy="114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5D5647-96FA-4666-AB22-BA39793BE2A1}"/>
              </a:ext>
            </a:extLst>
          </p:cNvPr>
          <p:cNvSpPr>
            <a:spLocks noGrp="1"/>
          </p:cNvSpPr>
          <p:nvPr/>
        </p:nvSpPr>
        <p:spPr>
          <a:xfrm>
            <a:off x="1409700" y="514350"/>
            <a:ext cx="135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B4911AE-CE6A-4A4C-AC4A-C086677BB653}"/>
              </a:ext>
            </a:extLst>
          </p:cNvPr>
          <p:cNvSpPr>
            <a:spLocks noGrp="1"/>
          </p:cNvSpPr>
          <p:nvPr/>
        </p:nvSpPr>
        <p:spPr>
          <a:xfrm>
            <a:off x="101917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C4F26F7-8B26-4B9B-8B2D-A32721199239}"/>
              </a:ext>
            </a:extLst>
          </p:cNvPr>
          <p:cNvSpPr>
            <a:spLocks noGrp="1"/>
          </p:cNvSpPr>
          <p:nvPr/>
        </p:nvSpPr>
        <p:spPr>
          <a:xfrm>
            <a:off x="10401300" y="561975"/>
            <a:ext cx="95250" cy="952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0EFFEA6-F03E-4870-8B0E-5E7479FE7FCE}"/>
              </a:ext>
            </a:extLst>
          </p:cNvPr>
          <p:cNvSpPr>
            <a:spLocks noGrp="1"/>
          </p:cNvSpPr>
          <p:nvPr/>
        </p:nvSpPr>
        <p:spPr>
          <a:xfrm>
            <a:off x="106108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4F4C59D7-CB72-4694-850B-C8132D7F7C8E}"/>
              </a:ext>
            </a:extLst>
          </p:cNvPr>
          <p:cNvSpPr>
            <a:spLocks noGrp="1"/>
          </p:cNvSpPr>
          <p:nvPr/>
        </p:nvSpPr>
        <p:spPr>
          <a:xfrm>
            <a:off x="1082040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8816AE9-7968-4795-A637-6D39498FD9D7}"/>
              </a:ext>
            </a:extLst>
          </p:cNvPr>
          <p:cNvSpPr>
            <a:spLocks noGrp="1"/>
          </p:cNvSpPr>
          <p:nvPr/>
        </p:nvSpPr>
        <p:spPr>
          <a:xfrm>
            <a:off x="110299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3E86D8-925E-48DE-A94F-26277E70C617}"/>
              </a:ext>
            </a:extLst>
          </p:cNvPr>
          <p:cNvSpPr>
            <a:spLocks noGrp="1"/>
          </p:cNvSpPr>
          <p:nvPr/>
        </p:nvSpPr>
        <p:spPr>
          <a:xfrm>
            <a:off x="11049000" y="49530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FC999A7-B47E-4645-8F17-65D337A8DC59}"/>
              </a:ext>
            </a:extLst>
          </p:cNvPr>
          <p:cNvSpPr>
            <a:spLocks noGrp="1"/>
          </p:cNvSpPr>
          <p:nvPr/>
        </p:nvSpPr>
        <p:spPr>
          <a:xfrm>
            <a:off x="800100" y="1181100"/>
            <a:ext cx="133350" cy="228600"/>
          </a:xfrm>
          <a:prstGeom prst="roundRect">
            <a:avLst>
              <a:gd name="adj" fmla="val 14286"/>
            </a:avLst>
          </a:prstGeom>
          <a:solidFill>
            <a:srgbClr val="FF7417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042B94A-FC6F-4EDD-BA5C-AEB40D5BF0AA}"/>
              </a:ext>
            </a:extLst>
          </p:cNvPr>
          <p:cNvSpPr>
            <a:spLocks noGrp="1"/>
          </p:cNvSpPr>
          <p:nvPr/>
        </p:nvSpPr>
        <p:spPr>
          <a:xfrm>
            <a:off x="1104900" y="1066800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客票系统的多数据库协同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8BA7C4-1827-43E1-AE20-2F0D302885C9}"/>
              </a:ext>
            </a:extLst>
          </p:cNvPr>
          <p:cNvSpPr>
            <a:spLocks noGrp="1"/>
          </p:cNvSpPr>
          <p:nvPr/>
        </p:nvSpPr>
        <p:spPr>
          <a:xfrm>
            <a:off x="800100" y="1676400"/>
            <a:ext cx="10648950" cy="9525"/>
          </a:xfrm>
          <a:prstGeom prst="rect">
            <a:avLst/>
          </a:prstGeom>
          <a:solidFill>
            <a:srgbClr val="EEE5DE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13D740E-6280-4B3A-ACF4-E67DF8E693FB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1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不同业务对数据模型和访问模式的要求不同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7BF22F0-B0C3-4DFC-91D6-2A8E7C8556E9}"/>
              </a:ext>
            </a:extLst>
          </p:cNvPr>
          <p:cNvSpPr>
            <a:spLocks noGrp="1"/>
          </p:cNvSpPr>
          <p:nvPr/>
        </p:nvSpPr>
        <p:spPr>
          <a:xfrm>
            <a:off x="800100" y="2190750"/>
            <a:ext cx="4972050" cy="3143250"/>
          </a:xfrm>
          <a:prstGeom prst="roundRect">
            <a:avLst>
              <a:gd name="adj" fmla="val 4848"/>
            </a:avLst>
          </a:prstGeom>
          <a:solidFill>
            <a:srgbClr val="FFF8F2"/>
          </a:solidFill>
          <a:ln w="9525">
            <a:solidFill>
              <a:srgbClr val="FFD7B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024A185C-B3BF-404B-ACBB-95E1376A6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14400" y="2569039"/>
            <a:ext cx="4743450" cy="2386673"/>
          </a:xfrm>
          <a:prstGeom prst="roundRect">
            <a:avLst>
              <a:gd name="adj" fmla="val 3922"/>
            </a:avLst>
          </a:prstGeom>
        </p:spPr>
      </p:pic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B6D1784-09D0-4CB2-B459-3B1CD91C7E46}"/>
              </a:ext>
            </a:extLst>
          </p:cNvPr>
          <p:cNvSpPr>
            <a:spLocks noGrp="1"/>
          </p:cNvSpPr>
          <p:nvPr/>
        </p:nvSpPr>
        <p:spPr>
          <a:xfrm>
            <a:off x="5943600" y="2190750"/>
            <a:ext cx="5219700" cy="3143250"/>
          </a:xfrm>
          <a:prstGeom prst="roundRect">
            <a:avLst>
              <a:gd name="adj" fmla="val 4848"/>
            </a:avLst>
          </a:prstGeom>
          <a:solidFill>
            <a:srgbClr val="FFF8F2"/>
          </a:solidFill>
          <a:ln w="9525">
            <a:solidFill>
              <a:srgbClr val="FFD7B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40A7BA39-0ED7-48F8-8B8F-E69AE693C5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99860" y="2305050"/>
            <a:ext cx="4107180" cy="2914650"/>
          </a:xfrm>
          <a:prstGeom prst="roundRect">
            <a:avLst>
              <a:gd name="adj" fmla="val 3922"/>
            </a:avLst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BB0D87CC-79CF-4237-93B0-28BC63D4F919}"/>
              </a:ext>
            </a:extLst>
          </p:cNvPr>
          <p:cNvSpPr>
            <a:spLocks noGrp="1"/>
          </p:cNvSpPr>
          <p:nvPr/>
        </p:nvSpPr>
        <p:spPr>
          <a:xfrm>
            <a:off x="1085850" y="5524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业务查询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4FF5C35-9F37-46E0-B1DD-8759DEF93C6D}"/>
              </a:ext>
            </a:extLst>
          </p:cNvPr>
          <p:cNvSpPr>
            <a:spLocks noGrp="1"/>
          </p:cNvSpPr>
          <p:nvPr/>
        </p:nvSpPr>
        <p:spPr>
          <a:xfrm>
            <a:off x="1085850" y="5791200"/>
            <a:ext cx="3619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交易型数据库负责订单与余票等强一致数据。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E02B7E3-85A0-4F98-8EDC-F82C26013EB5}"/>
              </a:ext>
            </a:extLst>
          </p:cNvPr>
          <p:cNvSpPr>
            <a:spLocks noGrp="1"/>
          </p:cNvSpPr>
          <p:nvPr/>
        </p:nvSpPr>
        <p:spPr>
          <a:xfrm>
            <a:off x="6191250" y="5524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场景细化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F2C8F0C-6A52-4497-8917-2E46197C819A}"/>
              </a:ext>
            </a:extLst>
          </p:cNvPr>
          <p:cNvSpPr>
            <a:spLocks noGrp="1"/>
          </p:cNvSpPr>
          <p:nvPr/>
        </p:nvSpPr>
        <p:spPr>
          <a:xfrm>
            <a:off x="6191250" y="579120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缓存、分析、图搜索与大数据存储按业务需求拆分。</a:t>
            </a:r>
          </a:p>
        </p:txBody>
      </p:sp>
    </p:spTree>
    <p:extLst>
      <p:ext uri="{BB962C8B-B14F-4D97-AF65-F5344CB8AC3E}">
        <p14:creationId xmlns:p14="http://schemas.microsoft.com/office/powerpoint/2010/main" val="1622205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EFEE830E-6F3D-4A02-A7C2-8F2D8E3899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3"/>
          </a:solidFill>
          <a:ln w="0">
            <a:noFill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00875F1-EC63-40B3-8DF3-0221E7EFB026}"/>
              </a:ext>
            </a:extLst>
          </p:cNvPr>
          <p:cNvSpPr>
            <a:spLocks noGrp="1"/>
          </p:cNvSpPr>
          <p:nvPr/>
        </p:nvSpPr>
        <p:spPr>
          <a:xfrm>
            <a:off x="-2571750" y="-3714750"/>
            <a:ext cx="11334750" cy="5810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8487ACC-7970-4577-B8CD-492BEAD6B666}"/>
              </a:ext>
            </a:extLst>
          </p:cNvPr>
          <p:cNvSpPr>
            <a:spLocks noGrp="1"/>
          </p:cNvSpPr>
          <p:nvPr/>
        </p:nvSpPr>
        <p:spPr>
          <a:xfrm>
            <a:off x="5095875" y="-4953000"/>
            <a:ext cx="10001250" cy="6238875"/>
          </a:xfrm>
          <a:prstGeom prst="ellipse">
            <a:avLst/>
          </a:prstGeom>
          <a:solidFill>
            <a:srgbClr val="FFFDFB"/>
          </a:solidFill>
          <a:ln w="0">
            <a:noFill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8F23CE0-173F-41FA-A556-D01689726C71}"/>
              </a:ext>
            </a:extLst>
          </p:cNvPr>
          <p:cNvSpPr>
            <a:spLocks noGrp="1"/>
          </p:cNvSpPr>
          <p:nvPr/>
        </p:nvSpPr>
        <p:spPr>
          <a:xfrm>
            <a:off x="-2857500" y="5334000"/>
            <a:ext cx="10477500" cy="29527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ADC629C-CBAA-4351-8582-F01051A33288}"/>
              </a:ext>
            </a:extLst>
          </p:cNvPr>
          <p:cNvSpPr>
            <a:spLocks noGrp="1"/>
          </p:cNvSpPr>
          <p:nvPr/>
        </p:nvSpPr>
        <p:spPr>
          <a:xfrm>
            <a:off x="3714750" y="5095875"/>
            <a:ext cx="11239500" cy="3143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0E67230-BABE-4C34-BE36-AF85E0596BFC}"/>
              </a:ext>
            </a:extLst>
          </p:cNvPr>
          <p:cNvSpPr>
            <a:spLocks noGrp="1"/>
          </p:cNvSpPr>
          <p:nvPr/>
        </p:nvSpPr>
        <p:spPr>
          <a:xfrm>
            <a:off x="2286000" y="4495800"/>
            <a:ext cx="10287000" cy="2476500"/>
          </a:xfrm>
          <a:prstGeom prst="ellipse">
            <a:avLst/>
          </a:prstGeom>
          <a:solidFill>
            <a:srgbClr val="FFC89F"/>
          </a:solidFill>
          <a:ln w="0">
            <a:noFill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F3E988E-541A-4509-AF83-00F55B897489}"/>
              </a:ext>
            </a:extLst>
          </p:cNvPr>
          <p:cNvSpPr>
            <a:spLocks noGrp="1"/>
          </p:cNvSpPr>
          <p:nvPr/>
        </p:nvSpPr>
        <p:spPr>
          <a:xfrm>
            <a:off x="438150" y="285750"/>
            <a:ext cx="11315700" cy="6286500"/>
          </a:xfrm>
          <a:prstGeom prst="roundRect">
            <a:avLst>
              <a:gd name="adj" fmla="val 3636"/>
            </a:avLst>
          </a:prstGeom>
          <a:solidFill>
            <a:srgbClr val="FFFDFB"/>
          </a:solidFill>
          <a:ln w="9525">
            <a:solidFill>
              <a:srgbClr val="F4E9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6086E79-BFFC-4B62-A5EA-D88749A5C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503324"/>
            <a:ext cx="552450" cy="27922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0FC296C-7E33-45C0-A20D-E02AED712C07}"/>
              </a:ext>
            </a:extLst>
          </p:cNvPr>
          <p:cNvSpPr>
            <a:spLocks noGrp="1"/>
          </p:cNvSpPr>
          <p:nvPr/>
        </p:nvSpPr>
        <p:spPr>
          <a:xfrm>
            <a:off x="781050" y="762000"/>
            <a:ext cx="476250" cy="114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3B1A783-D20B-4787-9AC7-DAE0542EE9B0}"/>
              </a:ext>
            </a:extLst>
          </p:cNvPr>
          <p:cNvSpPr>
            <a:spLocks noGrp="1"/>
          </p:cNvSpPr>
          <p:nvPr/>
        </p:nvSpPr>
        <p:spPr>
          <a:xfrm>
            <a:off x="1409700" y="514350"/>
            <a:ext cx="135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E42894A-BA5E-4017-9F93-51F977EDD907}"/>
              </a:ext>
            </a:extLst>
          </p:cNvPr>
          <p:cNvSpPr>
            <a:spLocks noGrp="1"/>
          </p:cNvSpPr>
          <p:nvPr/>
        </p:nvSpPr>
        <p:spPr>
          <a:xfrm>
            <a:off x="101917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C319ED8-45E7-4FA0-920F-97550602C99E}"/>
              </a:ext>
            </a:extLst>
          </p:cNvPr>
          <p:cNvSpPr>
            <a:spLocks noGrp="1"/>
          </p:cNvSpPr>
          <p:nvPr/>
        </p:nvSpPr>
        <p:spPr>
          <a:xfrm>
            <a:off x="1040130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84A9A42-920A-4BF7-8DC2-32144951E57E}"/>
              </a:ext>
            </a:extLst>
          </p:cNvPr>
          <p:cNvSpPr>
            <a:spLocks noGrp="1"/>
          </p:cNvSpPr>
          <p:nvPr/>
        </p:nvSpPr>
        <p:spPr>
          <a:xfrm>
            <a:off x="10610850" y="561975"/>
            <a:ext cx="95250" cy="952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4F2B470-3AFE-48F6-AAA2-13C7781A4048}"/>
              </a:ext>
            </a:extLst>
          </p:cNvPr>
          <p:cNvSpPr>
            <a:spLocks noGrp="1"/>
          </p:cNvSpPr>
          <p:nvPr/>
        </p:nvSpPr>
        <p:spPr>
          <a:xfrm>
            <a:off x="1082040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0686F90-F1F2-47E8-8167-6B3493F8A4CF}"/>
              </a:ext>
            </a:extLst>
          </p:cNvPr>
          <p:cNvSpPr>
            <a:spLocks noGrp="1"/>
          </p:cNvSpPr>
          <p:nvPr/>
        </p:nvSpPr>
        <p:spPr>
          <a:xfrm>
            <a:off x="110299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61AD80-DA41-4474-9A17-E3AAEC5545CD}"/>
              </a:ext>
            </a:extLst>
          </p:cNvPr>
          <p:cNvSpPr>
            <a:spLocks noGrp="1"/>
          </p:cNvSpPr>
          <p:nvPr/>
        </p:nvSpPr>
        <p:spPr>
          <a:xfrm>
            <a:off x="11049000" y="49530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C40FB29-65B0-4858-89E3-160E63A58BAF}"/>
              </a:ext>
            </a:extLst>
          </p:cNvPr>
          <p:cNvSpPr>
            <a:spLocks noGrp="1"/>
          </p:cNvSpPr>
          <p:nvPr/>
        </p:nvSpPr>
        <p:spPr>
          <a:xfrm>
            <a:off x="800100" y="1181100"/>
            <a:ext cx="133350" cy="228600"/>
          </a:xfrm>
          <a:prstGeom prst="roundRect">
            <a:avLst>
              <a:gd name="adj" fmla="val 14286"/>
            </a:avLst>
          </a:prstGeom>
          <a:solidFill>
            <a:srgbClr val="FF7417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1DA70CA-A637-422C-A3BC-28239B80F9DB}"/>
              </a:ext>
            </a:extLst>
          </p:cNvPr>
          <p:cNvSpPr>
            <a:spLocks noGrp="1"/>
          </p:cNvSpPr>
          <p:nvPr/>
        </p:nvSpPr>
        <p:spPr>
          <a:xfrm>
            <a:off x="1104900" y="1066800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项目分层架构与数据规模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91331D-9B3F-4040-9DDD-3E9076D484F8}"/>
              </a:ext>
            </a:extLst>
          </p:cNvPr>
          <p:cNvSpPr>
            <a:spLocks noGrp="1"/>
          </p:cNvSpPr>
          <p:nvPr/>
        </p:nvSpPr>
        <p:spPr>
          <a:xfrm>
            <a:off x="800100" y="1676400"/>
            <a:ext cx="10648950" cy="9525"/>
          </a:xfrm>
          <a:prstGeom prst="rect">
            <a:avLst/>
          </a:prstGeom>
          <a:solidFill>
            <a:srgbClr val="EEE5DE"/>
          </a:solidFill>
          <a:ln w="0">
            <a:noFill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B45DF83-8441-4FA2-8CF7-479CDE76145D}"/>
              </a:ext>
            </a:extLst>
          </p:cNvPr>
          <p:cNvSpPr>
            <a:spLocks noGrp="1"/>
          </p:cNvSpPr>
          <p:nvPr/>
        </p:nvSpPr>
        <p:spPr>
          <a:xfrm>
            <a:off x="800100" y="1943100"/>
            <a:ext cx="6457950" cy="3886200"/>
          </a:xfrm>
          <a:prstGeom prst="roundRect">
            <a:avLst>
              <a:gd name="adj" fmla="val 3922"/>
            </a:avLst>
          </a:prstGeom>
          <a:solidFill>
            <a:srgbClr val="FFF8F2"/>
          </a:solidFill>
          <a:ln w="9525">
            <a:solidFill>
              <a:srgbClr val="FFD7B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021AAB3D-2927-4011-9AED-8DAC961B1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14400" y="2186368"/>
            <a:ext cx="6229350" cy="3399665"/>
          </a:xfrm>
          <a:prstGeom prst="roundRect">
            <a:avLst>
              <a:gd name="adj" fmla="val 3125"/>
            </a:avLst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DC80C2F8-FB0F-483F-843F-C9AD90BFCE9F}"/>
              </a:ext>
            </a:extLst>
          </p:cNvPr>
          <p:cNvSpPr>
            <a:spLocks noGrp="1"/>
          </p:cNvSpPr>
          <p:nvPr/>
        </p:nvSpPr>
        <p:spPr>
          <a:xfrm>
            <a:off x="7677150" y="204787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三类数据库各司其职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28A8ED7A-A3C4-476D-88B6-BC2BFC6ADE39}"/>
              </a:ext>
            </a:extLst>
          </p:cNvPr>
          <p:cNvSpPr>
            <a:spLocks noGrp="1"/>
          </p:cNvSpPr>
          <p:nvPr/>
        </p:nvSpPr>
        <p:spPr>
          <a:xfrm>
            <a:off x="7743825" y="2628900"/>
            <a:ext cx="76200" cy="7620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CAA973F-C99B-42D1-8D0E-60427FA3388C}"/>
              </a:ext>
            </a:extLst>
          </p:cNvPr>
          <p:cNvSpPr>
            <a:spLocks noGrp="1"/>
          </p:cNvSpPr>
          <p:nvPr/>
        </p:nvSpPr>
        <p:spPr>
          <a:xfrm>
            <a:off x="8096250" y="2514600"/>
            <a:ext cx="2819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4B33BEB-26E3-4045-ABF3-BC718452C6AE}"/>
              </a:ext>
            </a:extLst>
          </p:cNvPr>
          <p:cNvSpPr>
            <a:spLocks noGrp="1"/>
          </p:cNvSpPr>
          <p:nvPr/>
        </p:nvSpPr>
        <p:spPr>
          <a:xfrm>
            <a:off x="8096250" y="2809875"/>
            <a:ext cx="28194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保存订单、支付、运行实例和席位库存，是交易权威数据源。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FD676748-9CC0-49C8-A441-6C49A8D530D1}"/>
              </a:ext>
            </a:extLst>
          </p:cNvPr>
          <p:cNvSpPr>
            <a:spLocks noGrp="1"/>
          </p:cNvSpPr>
          <p:nvPr/>
        </p:nvSpPr>
        <p:spPr>
          <a:xfrm>
            <a:off x="7743825" y="3467100"/>
            <a:ext cx="76200" cy="7620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74B7F03-E433-463F-A0C3-B71E0CC8F9A0}"/>
              </a:ext>
            </a:extLst>
          </p:cNvPr>
          <p:cNvSpPr>
            <a:spLocks noGrp="1"/>
          </p:cNvSpPr>
          <p:nvPr/>
        </p:nvSpPr>
        <p:spPr>
          <a:xfrm>
            <a:off x="8096250" y="3352800"/>
            <a:ext cx="2819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Neo4j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47230F1-82DA-4E14-A925-DF991AB6CF16}"/>
              </a:ext>
            </a:extLst>
          </p:cNvPr>
          <p:cNvSpPr>
            <a:spLocks noGrp="1"/>
          </p:cNvSpPr>
          <p:nvPr/>
        </p:nvSpPr>
        <p:spPr>
          <a:xfrm>
            <a:off x="8096250" y="3648075"/>
            <a:ext cx="28194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把车站与运行区段建模为图，搜索一次换乘候选路径。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5DE834E4-D8EC-469B-819C-9A648240FA3C}"/>
              </a:ext>
            </a:extLst>
          </p:cNvPr>
          <p:cNvSpPr>
            <a:spLocks noGrp="1"/>
          </p:cNvSpPr>
          <p:nvPr/>
        </p:nvSpPr>
        <p:spPr>
          <a:xfrm>
            <a:off x="7743825" y="4305300"/>
            <a:ext cx="76200" cy="7620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C2B2CB2-216E-404C-9AF5-AE3BC47DC9A3}"/>
              </a:ext>
            </a:extLst>
          </p:cNvPr>
          <p:cNvSpPr>
            <a:spLocks noGrp="1"/>
          </p:cNvSpPr>
          <p:nvPr/>
        </p:nvSpPr>
        <p:spPr>
          <a:xfrm>
            <a:off x="8096250" y="4191000"/>
            <a:ext cx="2819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Redis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4AA0BA5-6A2E-4731-BEF9-CB81E1E4C965}"/>
              </a:ext>
            </a:extLst>
          </p:cNvPr>
          <p:cNvSpPr>
            <a:spLocks noGrp="1"/>
          </p:cNvSpPr>
          <p:nvPr/>
        </p:nvSpPr>
        <p:spPr>
          <a:xfrm>
            <a:off x="8096250" y="4486275"/>
            <a:ext cx="28194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仅承担任务唤醒与瞬时流量缓冲，持久状态仍回写MySQL。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10D7E3B-6724-4C19-8156-3CE4375A045D}"/>
              </a:ext>
            </a:extLst>
          </p:cNvPr>
          <p:cNvSpPr>
            <a:spLocks noGrp="1"/>
          </p:cNvSpPr>
          <p:nvPr/>
        </p:nvSpPr>
        <p:spPr>
          <a:xfrm>
            <a:off x="7677150" y="5219700"/>
            <a:ext cx="8191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9394EF2-0BA3-4554-BB27-AF077D5B28E9}"/>
              </a:ext>
            </a:extLst>
          </p:cNvPr>
          <p:cNvSpPr>
            <a:spLocks noGrp="1"/>
          </p:cNvSpPr>
          <p:nvPr/>
        </p:nvSpPr>
        <p:spPr>
          <a:xfrm>
            <a:off x="7677150" y="5629275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车站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1CC570C-6BE3-4CBE-B0DA-75649D42392E}"/>
              </a:ext>
            </a:extLst>
          </p:cNvPr>
          <p:cNvSpPr>
            <a:spLocks noGrp="1"/>
          </p:cNvSpPr>
          <p:nvPr/>
        </p:nvSpPr>
        <p:spPr>
          <a:xfrm>
            <a:off x="8591550" y="5219700"/>
            <a:ext cx="12573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1,798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50C30A1-0352-48FE-A6EA-A23FD064180A}"/>
              </a:ext>
            </a:extLst>
          </p:cNvPr>
          <p:cNvSpPr>
            <a:spLocks noGrp="1"/>
          </p:cNvSpPr>
          <p:nvPr/>
        </p:nvSpPr>
        <p:spPr>
          <a:xfrm>
            <a:off x="8591550" y="5629275"/>
            <a:ext cx="12573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车次与运行实例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6723FEA-EA6D-4CFC-897A-075C40FE721A}"/>
              </a:ext>
            </a:extLst>
          </p:cNvPr>
          <p:cNvSpPr>
            <a:spLocks noGrp="1"/>
          </p:cNvSpPr>
          <p:nvPr/>
        </p:nvSpPr>
        <p:spPr>
          <a:xfrm>
            <a:off x="9953625" y="5219700"/>
            <a:ext cx="1143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44万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5D0BC4F-6088-4D72-98D8-CCA7A5517371}"/>
              </a:ext>
            </a:extLst>
          </p:cNvPr>
          <p:cNvSpPr>
            <a:spLocks noGrp="1"/>
          </p:cNvSpPr>
          <p:nvPr/>
        </p:nvSpPr>
        <p:spPr>
          <a:xfrm>
            <a:off x="9953625" y="56292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席位库存记录</a:t>
            </a:r>
          </a:p>
        </p:txBody>
      </p:sp>
    </p:spTree>
    <p:extLst>
      <p:ext uri="{BB962C8B-B14F-4D97-AF65-F5344CB8AC3E}">
        <p14:creationId xmlns:p14="http://schemas.microsoft.com/office/powerpoint/2010/main" val="440310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1E20B78A-4B42-4931-ADDF-B6C612C510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3"/>
          </a:solidFill>
          <a:ln w="0">
            <a:noFill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0A2AD40-CEA8-4B82-A825-1AA5E7E18BCC}"/>
              </a:ext>
            </a:extLst>
          </p:cNvPr>
          <p:cNvSpPr>
            <a:spLocks noGrp="1"/>
          </p:cNvSpPr>
          <p:nvPr/>
        </p:nvSpPr>
        <p:spPr>
          <a:xfrm>
            <a:off x="-2571750" y="-3714750"/>
            <a:ext cx="11334750" cy="5810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59CA5CE-D1C1-45C5-BC92-81A929C9645B}"/>
              </a:ext>
            </a:extLst>
          </p:cNvPr>
          <p:cNvSpPr>
            <a:spLocks noGrp="1"/>
          </p:cNvSpPr>
          <p:nvPr/>
        </p:nvSpPr>
        <p:spPr>
          <a:xfrm>
            <a:off x="5095875" y="-4953000"/>
            <a:ext cx="10001250" cy="6238875"/>
          </a:xfrm>
          <a:prstGeom prst="ellipse">
            <a:avLst/>
          </a:prstGeom>
          <a:solidFill>
            <a:srgbClr val="FFFDFB"/>
          </a:solidFill>
          <a:ln w="0">
            <a:noFill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2775807-6E49-4F61-B1C4-201BF0D410F2}"/>
              </a:ext>
            </a:extLst>
          </p:cNvPr>
          <p:cNvSpPr>
            <a:spLocks noGrp="1"/>
          </p:cNvSpPr>
          <p:nvPr/>
        </p:nvSpPr>
        <p:spPr>
          <a:xfrm>
            <a:off x="-2857500" y="5334000"/>
            <a:ext cx="10477500" cy="29527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88BA20F-66E2-4A5B-98B6-6C8EC6C42E4C}"/>
              </a:ext>
            </a:extLst>
          </p:cNvPr>
          <p:cNvSpPr>
            <a:spLocks noGrp="1"/>
          </p:cNvSpPr>
          <p:nvPr/>
        </p:nvSpPr>
        <p:spPr>
          <a:xfrm>
            <a:off x="3714750" y="5095875"/>
            <a:ext cx="11239500" cy="3143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D290D4C-4C4C-4F90-A352-B9D4317C3867}"/>
              </a:ext>
            </a:extLst>
          </p:cNvPr>
          <p:cNvSpPr>
            <a:spLocks noGrp="1"/>
          </p:cNvSpPr>
          <p:nvPr/>
        </p:nvSpPr>
        <p:spPr>
          <a:xfrm>
            <a:off x="2286000" y="4495800"/>
            <a:ext cx="10287000" cy="2476500"/>
          </a:xfrm>
          <a:prstGeom prst="ellipse">
            <a:avLst/>
          </a:prstGeom>
          <a:solidFill>
            <a:srgbClr val="FFC89F"/>
          </a:solidFill>
          <a:ln w="0">
            <a:noFill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0FE0C56-51CF-4596-B6C3-BCA94D29C82A}"/>
              </a:ext>
            </a:extLst>
          </p:cNvPr>
          <p:cNvSpPr>
            <a:spLocks noGrp="1"/>
          </p:cNvSpPr>
          <p:nvPr/>
        </p:nvSpPr>
        <p:spPr>
          <a:xfrm>
            <a:off x="438150" y="285750"/>
            <a:ext cx="11315700" cy="6286500"/>
          </a:xfrm>
          <a:prstGeom prst="roundRect">
            <a:avLst>
              <a:gd name="adj" fmla="val 3636"/>
            </a:avLst>
          </a:prstGeom>
          <a:solidFill>
            <a:srgbClr val="FFFDFB"/>
          </a:solidFill>
          <a:ln w="9525">
            <a:solidFill>
              <a:srgbClr val="F4E9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3F12969-5789-4A77-A6E5-DC7237984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503324"/>
            <a:ext cx="552450" cy="27922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A2A46A7-BC23-4203-9B7C-0AFCE96BEB30}"/>
              </a:ext>
            </a:extLst>
          </p:cNvPr>
          <p:cNvSpPr>
            <a:spLocks noGrp="1"/>
          </p:cNvSpPr>
          <p:nvPr/>
        </p:nvSpPr>
        <p:spPr>
          <a:xfrm>
            <a:off x="781050" y="762000"/>
            <a:ext cx="476250" cy="114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9620D9-2A17-4D66-85BD-AB19DE9BD910}"/>
              </a:ext>
            </a:extLst>
          </p:cNvPr>
          <p:cNvSpPr>
            <a:spLocks noGrp="1"/>
          </p:cNvSpPr>
          <p:nvPr/>
        </p:nvSpPr>
        <p:spPr>
          <a:xfrm>
            <a:off x="1409700" y="514350"/>
            <a:ext cx="135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4255BBB-A0B9-48DE-8885-EFEA880877C7}"/>
              </a:ext>
            </a:extLst>
          </p:cNvPr>
          <p:cNvSpPr>
            <a:spLocks noGrp="1"/>
          </p:cNvSpPr>
          <p:nvPr/>
        </p:nvSpPr>
        <p:spPr>
          <a:xfrm>
            <a:off x="101917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F24B6A9-256A-45D0-AA47-9C0DD5ECD26C}"/>
              </a:ext>
            </a:extLst>
          </p:cNvPr>
          <p:cNvSpPr>
            <a:spLocks noGrp="1"/>
          </p:cNvSpPr>
          <p:nvPr/>
        </p:nvSpPr>
        <p:spPr>
          <a:xfrm>
            <a:off x="1040130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86BC6D1-E964-448C-87F3-62A863457D19}"/>
              </a:ext>
            </a:extLst>
          </p:cNvPr>
          <p:cNvSpPr>
            <a:spLocks noGrp="1"/>
          </p:cNvSpPr>
          <p:nvPr/>
        </p:nvSpPr>
        <p:spPr>
          <a:xfrm>
            <a:off x="10610850" y="561975"/>
            <a:ext cx="95250" cy="952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CB0653B-7200-4CB7-9603-CF3B09A73E43}"/>
              </a:ext>
            </a:extLst>
          </p:cNvPr>
          <p:cNvSpPr>
            <a:spLocks noGrp="1"/>
          </p:cNvSpPr>
          <p:nvPr/>
        </p:nvSpPr>
        <p:spPr>
          <a:xfrm>
            <a:off x="1082040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3AA0BAA-5AA3-4EFA-BCED-F55A83727946}"/>
              </a:ext>
            </a:extLst>
          </p:cNvPr>
          <p:cNvSpPr>
            <a:spLocks noGrp="1"/>
          </p:cNvSpPr>
          <p:nvPr/>
        </p:nvSpPr>
        <p:spPr>
          <a:xfrm>
            <a:off x="110299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2D7B207-CE8B-49C0-B814-5D45D0BD4CBF}"/>
              </a:ext>
            </a:extLst>
          </p:cNvPr>
          <p:cNvSpPr>
            <a:spLocks noGrp="1"/>
          </p:cNvSpPr>
          <p:nvPr/>
        </p:nvSpPr>
        <p:spPr>
          <a:xfrm>
            <a:off x="11049000" y="49530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964231B-DF66-49F2-B0EA-E6E290D2B83E}"/>
              </a:ext>
            </a:extLst>
          </p:cNvPr>
          <p:cNvSpPr>
            <a:spLocks noGrp="1"/>
          </p:cNvSpPr>
          <p:nvPr/>
        </p:nvSpPr>
        <p:spPr>
          <a:xfrm>
            <a:off x="800100" y="1181100"/>
            <a:ext cx="133350" cy="228600"/>
          </a:xfrm>
          <a:prstGeom prst="roundRect">
            <a:avLst>
              <a:gd name="adj" fmla="val 14286"/>
            </a:avLst>
          </a:prstGeom>
          <a:solidFill>
            <a:srgbClr val="FF7417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0AF49EC-CC42-46BF-9680-23C6316F645B}"/>
              </a:ext>
            </a:extLst>
          </p:cNvPr>
          <p:cNvSpPr>
            <a:spLocks noGrp="1"/>
          </p:cNvSpPr>
          <p:nvPr/>
        </p:nvSpPr>
        <p:spPr>
          <a:xfrm>
            <a:off x="1104900" y="1066800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核心ER模型与关系拆分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2CC7B5E-400C-41D0-8C24-58A6766A3F1F}"/>
              </a:ext>
            </a:extLst>
          </p:cNvPr>
          <p:cNvSpPr>
            <a:spLocks noGrp="1"/>
          </p:cNvSpPr>
          <p:nvPr/>
        </p:nvSpPr>
        <p:spPr>
          <a:xfrm>
            <a:off x="800100" y="1676400"/>
            <a:ext cx="10648950" cy="9525"/>
          </a:xfrm>
          <a:prstGeom prst="rect">
            <a:avLst/>
          </a:prstGeom>
          <a:solidFill>
            <a:srgbClr val="EEE5DE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62E32EC-F3C4-47BE-874C-E81AB985BE8D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关系模型围绕三个领域展开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09A0F06F-6207-4038-8C13-20D967A6AD75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285750" cy="285750"/>
          </a:xfrm>
          <a:prstGeom prst="ellipse">
            <a:avLst/>
          </a:prstGeom>
          <a:solidFill>
            <a:srgbClr val="FFF0E5"/>
          </a:solidFill>
          <a:ln w="9525">
            <a:solidFill>
              <a:srgbClr val="FFD3B5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7D78DED-FB63-4C4B-8A22-694C562C7D24}"/>
              </a:ext>
            </a:extLst>
          </p:cNvPr>
          <p:cNvSpPr>
            <a:spLocks noGrp="1"/>
          </p:cNvSpPr>
          <p:nvPr/>
        </p:nvSpPr>
        <p:spPr>
          <a:xfrm>
            <a:off x="876300" y="2619375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DA6EBD2-045C-413F-B8D7-60F4CBFB115C}"/>
              </a:ext>
            </a:extLst>
          </p:cNvPr>
          <p:cNvSpPr>
            <a:spLocks noGrp="1"/>
          </p:cNvSpPr>
          <p:nvPr/>
        </p:nvSpPr>
        <p:spPr>
          <a:xfrm>
            <a:off x="1295400" y="2609850"/>
            <a:ext cx="3486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铁路运行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B9EE0A6-F9E6-4BCB-B550-B57D7B527C23}"/>
              </a:ext>
            </a:extLst>
          </p:cNvPr>
          <p:cNvSpPr>
            <a:spLocks noGrp="1"/>
          </p:cNvSpPr>
          <p:nvPr/>
        </p:nvSpPr>
        <p:spPr>
          <a:xfrm>
            <a:off x="1295400" y="2905125"/>
            <a:ext cx="34861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车站、车次模板、停站记录和每日运行实例描述列车如何运行。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ED4A899-C710-4DBF-8C92-17F35B5939A9}"/>
              </a:ext>
            </a:extLst>
          </p:cNvPr>
          <p:cNvSpPr>
            <a:spLocks noGrp="1"/>
          </p:cNvSpPr>
          <p:nvPr/>
        </p:nvSpPr>
        <p:spPr>
          <a:xfrm>
            <a:off x="876300" y="3619500"/>
            <a:ext cx="285750" cy="285750"/>
          </a:xfrm>
          <a:prstGeom prst="ellipse">
            <a:avLst/>
          </a:prstGeom>
          <a:solidFill>
            <a:srgbClr val="FFF0E5"/>
          </a:solidFill>
          <a:ln w="9525">
            <a:solidFill>
              <a:srgbClr val="FFD3B5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D59567F-296A-43BE-8E43-49FCBCAFA2EF}"/>
              </a:ext>
            </a:extLst>
          </p:cNvPr>
          <p:cNvSpPr>
            <a:spLocks noGrp="1"/>
          </p:cNvSpPr>
          <p:nvPr/>
        </p:nvSpPr>
        <p:spPr>
          <a:xfrm>
            <a:off x="876300" y="3609975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41C946E-4510-4EF8-BBEA-A388209302EC}"/>
              </a:ext>
            </a:extLst>
          </p:cNvPr>
          <p:cNvSpPr>
            <a:spLocks noGrp="1"/>
          </p:cNvSpPr>
          <p:nvPr/>
        </p:nvSpPr>
        <p:spPr>
          <a:xfrm>
            <a:off x="1295400" y="3600450"/>
            <a:ext cx="3486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区间库存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69169C-245F-45F2-A033-DDA54A309D73}"/>
              </a:ext>
            </a:extLst>
          </p:cNvPr>
          <p:cNvSpPr>
            <a:spLocks noGrp="1"/>
          </p:cNvSpPr>
          <p:nvPr/>
        </p:nvSpPr>
        <p:spPr>
          <a:xfrm>
            <a:off x="1295400" y="3895725"/>
            <a:ext cx="34861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运行座位、票价、座位分配与占用位图共同描述可售能力。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9C2250FC-C2A6-468B-BEBD-8B011D14D051}"/>
              </a:ext>
            </a:extLst>
          </p:cNvPr>
          <p:cNvSpPr>
            <a:spLocks noGrp="1"/>
          </p:cNvSpPr>
          <p:nvPr/>
        </p:nvSpPr>
        <p:spPr>
          <a:xfrm>
            <a:off x="876300" y="4610100"/>
            <a:ext cx="285750" cy="285750"/>
          </a:xfrm>
          <a:prstGeom prst="ellipse">
            <a:avLst/>
          </a:prstGeom>
          <a:solidFill>
            <a:srgbClr val="FFF0E5"/>
          </a:solidFill>
          <a:ln w="9525">
            <a:solidFill>
              <a:srgbClr val="FFD3B5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51859AA-714F-43AD-90F4-944FE21462E3}"/>
              </a:ext>
            </a:extLst>
          </p:cNvPr>
          <p:cNvSpPr>
            <a:spLocks noGrp="1"/>
          </p:cNvSpPr>
          <p:nvPr/>
        </p:nvSpPr>
        <p:spPr>
          <a:xfrm>
            <a:off x="876300" y="4600575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E00CD89-25F7-4FF2-B649-AA39CF11197D}"/>
              </a:ext>
            </a:extLst>
          </p:cNvPr>
          <p:cNvSpPr>
            <a:spLocks noGrp="1"/>
          </p:cNvSpPr>
          <p:nvPr/>
        </p:nvSpPr>
        <p:spPr>
          <a:xfrm>
            <a:off x="1295400" y="4591050"/>
            <a:ext cx="3486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用户交易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933B448-7D0A-4638-B5F7-D229E3524DE1}"/>
              </a:ext>
            </a:extLst>
          </p:cNvPr>
          <p:cNvSpPr>
            <a:spLocks noGrp="1"/>
          </p:cNvSpPr>
          <p:nvPr/>
        </p:nvSpPr>
        <p:spPr>
          <a:xfrm>
            <a:off x="1295400" y="4886325"/>
            <a:ext cx="34861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订单主体、订单明细、支付记录和候补请求保持状态可追踪。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E78856CA-8036-4FB5-8870-61353E54A85D}"/>
              </a:ext>
            </a:extLst>
          </p:cNvPr>
          <p:cNvSpPr>
            <a:spLocks noGrp="1"/>
          </p:cNvSpPr>
          <p:nvPr/>
        </p:nvSpPr>
        <p:spPr>
          <a:xfrm>
            <a:off x="876300" y="5572125"/>
            <a:ext cx="3714750" cy="438150"/>
          </a:xfrm>
          <a:prstGeom prst="roundRect">
            <a:avLst>
              <a:gd name="adj" fmla="val 26087"/>
            </a:avLst>
          </a:prstGeom>
          <a:solidFill>
            <a:srgbClr val="FFF0E5"/>
          </a:solidFill>
          <a:ln w="0">
            <a:noFill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36B13B0-D195-4FD0-96D9-82CBD77F94AD}"/>
              </a:ext>
            </a:extLst>
          </p:cNvPr>
          <p:cNvSpPr>
            <a:spLocks noGrp="1"/>
          </p:cNvSpPr>
          <p:nvPr/>
        </p:nvSpPr>
        <p:spPr>
          <a:xfrm>
            <a:off x="1028700" y="5572125"/>
            <a:ext cx="3429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1050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rPr>
              <a:t>关键拆分：车次模板与每日运行实例分离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F4BC7B7C-66C9-444F-99A6-6FC252AF5BFB}"/>
              </a:ext>
            </a:extLst>
          </p:cNvPr>
          <p:cNvSpPr>
            <a:spLocks noGrp="1"/>
          </p:cNvSpPr>
          <p:nvPr/>
        </p:nvSpPr>
        <p:spPr>
          <a:xfrm>
            <a:off x="5010150" y="1952625"/>
            <a:ext cx="6153150" cy="4000500"/>
          </a:xfrm>
          <a:prstGeom prst="roundRect">
            <a:avLst>
              <a:gd name="adj" fmla="val 3810"/>
            </a:avLst>
          </a:prstGeom>
          <a:solidFill>
            <a:srgbClr val="FFF8F2"/>
          </a:solidFill>
          <a:ln w="9525">
            <a:solidFill>
              <a:srgbClr val="FFD7B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EE0EA16E-403F-484C-970D-A419D11CF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124450" y="2285709"/>
            <a:ext cx="5924550" cy="3334331"/>
          </a:xfrm>
          <a:prstGeom prst="roundRect">
            <a:avLst>
              <a:gd name="adj" fmla="val 3030"/>
            </a:avLst>
          </a:prstGeom>
        </p:spPr>
      </p:pic>
    </p:spTree>
    <p:extLst>
      <p:ext uri="{BB962C8B-B14F-4D97-AF65-F5344CB8AC3E}">
        <p14:creationId xmlns:p14="http://schemas.microsoft.com/office/powerpoint/2010/main" val="1400812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3DAED903-029E-45EB-BF3D-AFB4FCA240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3"/>
          </a:solidFill>
          <a:ln w="0">
            <a:noFill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16EB377-DD6F-4EA4-926B-FE8CEDF27029}"/>
              </a:ext>
            </a:extLst>
          </p:cNvPr>
          <p:cNvSpPr>
            <a:spLocks noGrp="1"/>
          </p:cNvSpPr>
          <p:nvPr/>
        </p:nvSpPr>
        <p:spPr>
          <a:xfrm>
            <a:off x="-2571750" y="-3714750"/>
            <a:ext cx="11334750" cy="5810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8040C09-CA88-4B4B-AA19-0A9C64CEB664}"/>
              </a:ext>
            </a:extLst>
          </p:cNvPr>
          <p:cNvSpPr>
            <a:spLocks noGrp="1"/>
          </p:cNvSpPr>
          <p:nvPr/>
        </p:nvSpPr>
        <p:spPr>
          <a:xfrm>
            <a:off x="5095875" y="-4953000"/>
            <a:ext cx="10001250" cy="6238875"/>
          </a:xfrm>
          <a:prstGeom prst="ellipse">
            <a:avLst/>
          </a:prstGeom>
          <a:solidFill>
            <a:srgbClr val="FFFDFB"/>
          </a:solidFill>
          <a:ln w="0">
            <a:noFill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F96EF96-8188-4B4E-9BB3-42F372EC386A}"/>
              </a:ext>
            </a:extLst>
          </p:cNvPr>
          <p:cNvSpPr>
            <a:spLocks noGrp="1"/>
          </p:cNvSpPr>
          <p:nvPr/>
        </p:nvSpPr>
        <p:spPr>
          <a:xfrm>
            <a:off x="-2857500" y="5334000"/>
            <a:ext cx="10477500" cy="29527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7432B8A-BDF8-463F-B996-997AD30DCCFA}"/>
              </a:ext>
            </a:extLst>
          </p:cNvPr>
          <p:cNvSpPr>
            <a:spLocks noGrp="1"/>
          </p:cNvSpPr>
          <p:nvPr/>
        </p:nvSpPr>
        <p:spPr>
          <a:xfrm>
            <a:off x="3714750" y="5095875"/>
            <a:ext cx="11239500" cy="3143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AAEFD37-8B01-4E09-A23A-52F46C45A4CC}"/>
              </a:ext>
            </a:extLst>
          </p:cNvPr>
          <p:cNvSpPr>
            <a:spLocks noGrp="1"/>
          </p:cNvSpPr>
          <p:nvPr/>
        </p:nvSpPr>
        <p:spPr>
          <a:xfrm>
            <a:off x="2286000" y="4495800"/>
            <a:ext cx="10287000" cy="2476500"/>
          </a:xfrm>
          <a:prstGeom prst="ellipse">
            <a:avLst/>
          </a:prstGeom>
          <a:solidFill>
            <a:srgbClr val="FFC89F"/>
          </a:solidFill>
          <a:ln w="0">
            <a:noFill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60CFA2C-1102-4D0A-9A10-AE4B87B67481}"/>
              </a:ext>
            </a:extLst>
          </p:cNvPr>
          <p:cNvSpPr>
            <a:spLocks noGrp="1"/>
          </p:cNvSpPr>
          <p:nvPr/>
        </p:nvSpPr>
        <p:spPr>
          <a:xfrm>
            <a:off x="438150" y="285750"/>
            <a:ext cx="11315700" cy="6286500"/>
          </a:xfrm>
          <a:prstGeom prst="roundRect">
            <a:avLst>
              <a:gd name="adj" fmla="val 3636"/>
            </a:avLst>
          </a:prstGeom>
          <a:solidFill>
            <a:srgbClr val="FFFDFB"/>
          </a:solidFill>
          <a:ln w="9525">
            <a:solidFill>
              <a:srgbClr val="F4E9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D939965-2D07-448C-AC0E-2AB0DC1A2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503324"/>
            <a:ext cx="552450" cy="27922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CDD3131-37AA-4DEF-BAC5-632B1552157B}"/>
              </a:ext>
            </a:extLst>
          </p:cNvPr>
          <p:cNvSpPr>
            <a:spLocks noGrp="1"/>
          </p:cNvSpPr>
          <p:nvPr/>
        </p:nvSpPr>
        <p:spPr>
          <a:xfrm>
            <a:off x="781050" y="762000"/>
            <a:ext cx="476250" cy="114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F01FAB-E619-4B16-AD39-ABA0E7F36301}"/>
              </a:ext>
            </a:extLst>
          </p:cNvPr>
          <p:cNvSpPr>
            <a:spLocks noGrp="1"/>
          </p:cNvSpPr>
          <p:nvPr/>
        </p:nvSpPr>
        <p:spPr>
          <a:xfrm>
            <a:off x="1409700" y="514350"/>
            <a:ext cx="135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DC1A6A8-246F-4AB4-9711-05DA7B93637A}"/>
              </a:ext>
            </a:extLst>
          </p:cNvPr>
          <p:cNvSpPr>
            <a:spLocks noGrp="1"/>
          </p:cNvSpPr>
          <p:nvPr/>
        </p:nvSpPr>
        <p:spPr>
          <a:xfrm>
            <a:off x="101917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2C7F3FC-76ED-4E71-812D-19F15DA76D3F}"/>
              </a:ext>
            </a:extLst>
          </p:cNvPr>
          <p:cNvSpPr>
            <a:spLocks noGrp="1"/>
          </p:cNvSpPr>
          <p:nvPr/>
        </p:nvSpPr>
        <p:spPr>
          <a:xfrm>
            <a:off x="1040130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7D72028-3659-4A7F-ABDC-9A0693DB5CE0}"/>
              </a:ext>
            </a:extLst>
          </p:cNvPr>
          <p:cNvSpPr>
            <a:spLocks noGrp="1"/>
          </p:cNvSpPr>
          <p:nvPr/>
        </p:nvSpPr>
        <p:spPr>
          <a:xfrm>
            <a:off x="106108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E38BDF-DD45-4881-BD9E-75162A4A7FDB}"/>
              </a:ext>
            </a:extLst>
          </p:cNvPr>
          <p:cNvSpPr>
            <a:spLocks noGrp="1"/>
          </p:cNvSpPr>
          <p:nvPr/>
        </p:nvSpPr>
        <p:spPr>
          <a:xfrm>
            <a:off x="10820400" y="561975"/>
            <a:ext cx="95250" cy="952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A5317B5-89A1-4A5F-A7CC-01EBBE4A4D97}"/>
              </a:ext>
            </a:extLst>
          </p:cNvPr>
          <p:cNvSpPr>
            <a:spLocks noGrp="1"/>
          </p:cNvSpPr>
          <p:nvPr/>
        </p:nvSpPr>
        <p:spPr>
          <a:xfrm>
            <a:off x="110299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9E5541-C26E-4470-9210-551C91CF0867}"/>
              </a:ext>
            </a:extLst>
          </p:cNvPr>
          <p:cNvSpPr>
            <a:spLocks noGrp="1"/>
          </p:cNvSpPr>
          <p:nvPr/>
        </p:nvSpPr>
        <p:spPr>
          <a:xfrm>
            <a:off x="11049000" y="49530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5F4F6D3-4E5C-420C-B705-6C08EBFADB45}"/>
              </a:ext>
            </a:extLst>
          </p:cNvPr>
          <p:cNvSpPr>
            <a:spLocks noGrp="1"/>
          </p:cNvSpPr>
          <p:nvPr/>
        </p:nvSpPr>
        <p:spPr>
          <a:xfrm>
            <a:off x="800100" y="1181100"/>
            <a:ext cx="133350" cy="228600"/>
          </a:xfrm>
          <a:prstGeom prst="roundRect">
            <a:avLst>
              <a:gd name="adj" fmla="val 14286"/>
            </a:avLst>
          </a:prstGeom>
          <a:solidFill>
            <a:srgbClr val="FF7417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9308C31-F5CB-4821-A1E0-258B087BCBC4}"/>
              </a:ext>
            </a:extLst>
          </p:cNvPr>
          <p:cNvSpPr>
            <a:spLocks noGrp="1"/>
          </p:cNvSpPr>
          <p:nvPr/>
        </p:nvSpPr>
        <p:spPr>
          <a:xfrm>
            <a:off x="1104900" y="1066800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Python服务层与Neo4j换乘搜索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B1A3CE8-C21C-4AFD-8FBB-91AD4AF9E17A}"/>
              </a:ext>
            </a:extLst>
          </p:cNvPr>
          <p:cNvSpPr>
            <a:spLocks noGrp="1"/>
          </p:cNvSpPr>
          <p:nvPr/>
        </p:nvSpPr>
        <p:spPr>
          <a:xfrm>
            <a:off x="800100" y="1676400"/>
            <a:ext cx="10648950" cy="9525"/>
          </a:xfrm>
          <a:prstGeom prst="rect">
            <a:avLst/>
          </a:prstGeom>
          <a:solidFill>
            <a:srgbClr val="EEE5DE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A62CB8F-B0F0-4EB7-A099-6E9AD6BBA69C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Python负责流程编排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196914B-03E4-498D-8B6A-DAD22DE45CAE}"/>
              </a:ext>
            </a:extLst>
          </p:cNvPr>
          <p:cNvSpPr>
            <a:spLocks noGrp="1"/>
          </p:cNvSpPr>
          <p:nvPr/>
        </p:nvSpPr>
        <p:spPr>
          <a:xfrm>
            <a:off x="876300" y="2800350"/>
            <a:ext cx="476250" cy="38100"/>
          </a:xfrm>
          <a:prstGeom prst="rect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A5D58F3-21CE-4B2E-A6D0-3CE19725C1FE}"/>
              </a:ext>
            </a:extLst>
          </p:cNvPr>
          <p:cNvSpPr>
            <a:spLocks noGrp="1"/>
          </p:cNvSpPr>
          <p:nvPr/>
        </p:nvSpPr>
        <p:spPr>
          <a:xfrm>
            <a:off x="1504950" y="266700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直达查询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EE2E0A0-C928-4233-9AB4-1ECCDE72AEF1}"/>
              </a:ext>
            </a:extLst>
          </p:cNvPr>
          <p:cNvSpPr>
            <a:spLocks noGrp="1"/>
          </p:cNvSpPr>
          <p:nvPr/>
        </p:nvSpPr>
        <p:spPr>
          <a:xfrm>
            <a:off x="1504950" y="2990850"/>
            <a:ext cx="3048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MySQL按起终站顺序、运行日期和实时库存直接筛选。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1EDB0C4-FCE9-4400-924F-BEC5D4CE6439}"/>
              </a:ext>
            </a:extLst>
          </p:cNvPr>
          <p:cNvSpPr>
            <a:spLocks noGrp="1"/>
          </p:cNvSpPr>
          <p:nvPr/>
        </p:nvSpPr>
        <p:spPr>
          <a:xfrm>
            <a:off x="876300" y="3790950"/>
            <a:ext cx="476250" cy="38100"/>
          </a:xfrm>
          <a:prstGeom prst="rect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36EB183-DB60-4548-A9C5-44795AE33F09}"/>
              </a:ext>
            </a:extLst>
          </p:cNvPr>
          <p:cNvSpPr>
            <a:spLocks noGrp="1"/>
          </p:cNvSpPr>
          <p:nvPr/>
        </p:nvSpPr>
        <p:spPr>
          <a:xfrm>
            <a:off x="1504950" y="365760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一次换乘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6A15C58-FC1C-4992-B570-F9D85A834439}"/>
              </a:ext>
            </a:extLst>
          </p:cNvPr>
          <p:cNvSpPr>
            <a:spLocks noGrp="1"/>
          </p:cNvSpPr>
          <p:nvPr/>
        </p:nvSpPr>
        <p:spPr>
          <a:xfrm>
            <a:off x="1504950" y="3981450"/>
            <a:ext cx="3048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Neo4j先找候选路径，再由MySQL校验时刻、票价与库存。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A10729D-B8B6-471A-A034-3E4BC9B74FDF}"/>
              </a:ext>
            </a:extLst>
          </p:cNvPr>
          <p:cNvSpPr>
            <a:spLocks noGrp="1"/>
          </p:cNvSpPr>
          <p:nvPr/>
        </p:nvSpPr>
        <p:spPr>
          <a:xfrm>
            <a:off x="876300" y="4781550"/>
            <a:ext cx="476250" cy="38100"/>
          </a:xfrm>
          <a:prstGeom prst="rect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AB463E9-A17E-4BB3-9484-53AE52566C8D}"/>
              </a:ext>
            </a:extLst>
          </p:cNvPr>
          <p:cNvSpPr>
            <a:spLocks noGrp="1"/>
          </p:cNvSpPr>
          <p:nvPr/>
        </p:nvSpPr>
        <p:spPr>
          <a:xfrm>
            <a:off x="1504950" y="464820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职责边界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9A898B-C290-4B20-955B-7D961368E00B}"/>
              </a:ext>
            </a:extLst>
          </p:cNvPr>
          <p:cNvSpPr>
            <a:spLocks noGrp="1"/>
          </p:cNvSpPr>
          <p:nvPr/>
        </p:nvSpPr>
        <p:spPr>
          <a:xfrm>
            <a:off x="1504950" y="4972050"/>
            <a:ext cx="3048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图数据库负责找路，关系数据库决定方案能否出售。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1CB1650-CC59-43E1-B658-D3DF4BA606D9}"/>
              </a:ext>
            </a:extLst>
          </p:cNvPr>
          <p:cNvSpPr>
            <a:spLocks noGrp="1"/>
          </p:cNvSpPr>
          <p:nvPr/>
        </p:nvSpPr>
        <p:spPr>
          <a:xfrm>
            <a:off x="876300" y="5572125"/>
            <a:ext cx="3714750" cy="438150"/>
          </a:xfrm>
          <a:prstGeom prst="roundRect">
            <a:avLst>
              <a:gd name="adj" fmla="val 26087"/>
            </a:avLst>
          </a:prstGeom>
          <a:solidFill>
            <a:srgbClr val="FFF0E5"/>
          </a:solidFill>
          <a:ln w="0">
            <a:noFill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7272D4F-B0AE-4189-AE94-8ECF61058A57}"/>
              </a:ext>
            </a:extLst>
          </p:cNvPr>
          <p:cNvSpPr>
            <a:spLocks noGrp="1"/>
          </p:cNvSpPr>
          <p:nvPr/>
        </p:nvSpPr>
        <p:spPr>
          <a:xfrm>
            <a:off x="1028700" y="5572125"/>
            <a:ext cx="3429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13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1013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rPr>
              <a:t>HTTP接口　参数校验　事务调度　后台任务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59811BC-9D57-4C2B-AD0D-016ED77F0415}"/>
              </a:ext>
            </a:extLst>
          </p:cNvPr>
          <p:cNvSpPr>
            <a:spLocks noGrp="1"/>
          </p:cNvSpPr>
          <p:nvPr/>
        </p:nvSpPr>
        <p:spPr>
          <a:xfrm>
            <a:off x="5010150" y="1952625"/>
            <a:ext cx="6153150" cy="4000500"/>
          </a:xfrm>
          <a:prstGeom prst="roundRect">
            <a:avLst>
              <a:gd name="adj" fmla="val 3810"/>
            </a:avLst>
          </a:prstGeom>
          <a:solidFill>
            <a:srgbClr val="FFF8F2"/>
          </a:solidFill>
          <a:ln w="9525">
            <a:solidFill>
              <a:srgbClr val="FFD7B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C171992E-F081-47DA-877F-E989002FD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124450" y="2402913"/>
            <a:ext cx="5924550" cy="3099924"/>
          </a:xfrm>
          <a:prstGeom prst="roundRect">
            <a:avLst>
              <a:gd name="adj" fmla="val 3030"/>
            </a:avLst>
          </a:prstGeom>
        </p:spPr>
      </p:pic>
    </p:spTree>
    <p:extLst>
      <p:ext uri="{BB962C8B-B14F-4D97-AF65-F5344CB8AC3E}">
        <p14:creationId xmlns:p14="http://schemas.microsoft.com/office/powerpoint/2010/main" val="1923255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AC16226E-E70E-4350-8B75-237891CA39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3"/>
          </a:solidFill>
          <a:ln w="0">
            <a:noFill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AD6DC08-5E31-4A92-91D6-36C8D5324158}"/>
              </a:ext>
            </a:extLst>
          </p:cNvPr>
          <p:cNvSpPr>
            <a:spLocks noGrp="1"/>
          </p:cNvSpPr>
          <p:nvPr/>
        </p:nvSpPr>
        <p:spPr>
          <a:xfrm>
            <a:off x="-2571750" y="-3714750"/>
            <a:ext cx="11334750" cy="5810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EEED811-5AF2-4A10-AA9C-5269B9B4EE4F}"/>
              </a:ext>
            </a:extLst>
          </p:cNvPr>
          <p:cNvSpPr>
            <a:spLocks noGrp="1"/>
          </p:cNvSpPr>
          <p:nvPr/>
        </p:nvSpPr>
        <p:spPr>
          <a:xfrm>
            <a:off x="5095875" y="-4953000"/>
            <a:ext cx="10001250" cy="6238875"/>
          </a:xfrm>
          <a:prstGeom prst="ellipse">
            <a:avLst/>
          </a:prstGeom>
          <a:solidFill>
            <a:srgbClr val="FFFDFB"/>
          </a:solidFill>
          <a:ln w="0">
            <a:noFill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828987A-C054-4F34-AA33-8492F7BB0920}"/>
              </a:ext>
            </a:extLst>
          </p:cNvPr>
          <p:cNvSpPr>
            <a:spLocks noGrp="1"/>
          </p:cNvSpPr>
          <p:nvPr/>
        </p:nvSpPr>
        <p:spPr>
          <a:xfrm>
            <a:off x="-2857500" y="5334000"/>
            <a:ext cx="10477500" cy="29527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CBBA930-C935-4720-B79D-990638ED15AC}"/>
              </a:ext>
            </a:extLst>
          </p:cNvPr>
          <p:cNvSpPr>
            <a:spLocks noGrp="1"/>
          </p:cNvSpPr>
          <p:nvPr/>
        </p:nvSpPr>
        <p:spPr>
          <a:xfrm>
            <a:off x="3714750" y="5095875"/>
            <a:ext cx="11239500" cy="3143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94E3FD5-AA06-4FCA-8F16-1982BAB99FEA}"/>
              </a:ext>
            </a:extLst>
          </p:cNvPr>
          <p:cNvSpPr>
            <a:spLocks noGrp="1"/>
          </p:cNvSpPr>
          <p:nvPr/>
        </p:nvSpPr>
        <p:spPr>
          <a:xfrm>
            <a:off x="2286000" y="4495800"/>
            <a:ext cx="10287000" cy="2476500"/>
          </a:xfrm>
          <a:prstGeom prst="ellipse">
            <a:avLst/>
          </a:prstGeom>
          <a:solidFill>
            <a:srgbClr val="FFC89F"/>
          </a:solidFill>
          <a:ln w="0">
            <a:noFill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5791CB6-AB34-4EAF-AF7C-1E4B95B7F9C4}"/>
              </a:ext>
            </a:extLst>
          </p:cNvPr>
          <p:cNvSpPr>
            <a:spLocks noGrp="1"/>
          </p:cNvSpPr>
          <p:nvPr/>
        </p:nvSpPr>
        <p:spPr>
          <a:xfrm>
            <a:off x="438150" y="285750"/>
            <a:ext cx="11315700" cy="6286500"/>
          </a:xfrm>
          <a:prstGeom prst="roundRect">
            <a:avLst>
              <a:gd name="adj" fmla="val 3636"/>
            </a:avLst>
          </a:prstGeom>
          <a:solidFill>
            <a:srgbClr val="FFFDFB"/>
          </a:solidFill>
          <a:ln w="9525">
            <a:solidFill>
              <a:srgbClr val="F4E9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5E4B85B-4D6E-444D-8730-59081FC79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503324"/>
            <a:ext cx="552450" cy="27922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1E65E64-391E-475A-83DE-36E72B2D8E1F}"/>
              </a:ext>
            </a:extLst>
          </p:cNvPr>
          <p:cNvSpPr>
            <a:spLocks noGrp="1"/>
          </p:cNvSpPr>
          <p:nvPr/>
        </p:nvSpPr>
        <p:spPr>
          <a:xfrm>
            <a:off x="781050" y="762000"/>
            <a:ext cx="476250" cy="114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AAE240-56D9-4852-B1D3-092769731057}"/>
              </a:ext>
            </a:extLst>
          </p:cNvPr>
          <p:cNvSpPr>
            <a:spLocks noGrp="1"/>
          </p:cNvSpPr>
          <p:nvPr/>
        </p:nvSpPr>
        <p:spPr>
          <a:xfrm>
            <a:off x="1409700" y="514350"/>
            <a:ext cx="135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A88E14F-1C71-4E57-B152-486C7CA58BCF}"/>
              </a:ext>
            </a:extLst>
          </p:cNvPr>
          <p:cNvSpPr>
            <a:spLocks noGrp="1"/>
          </p:cNvSpPr>
          <p:nvPr/>
        </p:nvSpPr>
        <p:spPr>
          <a:xfrm>
            <a:off x="101917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F4C2F6F-546A-499E-A1A1-D97CEFCB2E24}"/>
              </a:ext>
            </a:extLst>
          </p:cNvPr>
          <p:cNvSpPr>
            <a:spLocks noGrp="1"/>
          </p:cNvSpPr>
          <p:nvPr/>
        </p:nvSpPr>
        <p:spPr>
          <a:xfrm>
            <a:off x="1040130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70063DD-A91C-4353-8A7D-DD8F8B52F78A}"/>
              </a:ext>
            </a:extLst>
          </p:cNvPr>
          <p:cNvSpPr>
            <a:spLocks noGrp="1"/>
          </p:cNvSpPr>
          <p:nvPr/>
        </p:nvSpPr>
        <p:spPr>
          <a:xfrm>
            <a:off x="106108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9485F9A-3219-4727-A0B9-571FD9508E6F}"/>
              </a:ext>
            </a:extLst>
          </p:cNvPr>
          <p:cNvSpPr>
            <a:spLocks noGrp="1"/>
          </p:cNvSpPr>
          <p:nvPr/>
        </p:nvSpPr>
        <p:spPr>
          <a:xfrm>
            <a:off x="10820400" y="561975"/>
            <a:ext cx="95250" cy="952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C281571-978D-4156-9B2C-09437521B738}"/>
              </a:ext>
            </a:extLst>
          </p:cNvPr>
          <p:cNvSpPr>
            <a:spLocks noGrp="1"/>
          </p:cNvSpPr>
          <p:nvPr/>
        </p:nvSpPr>
        <p:spPr>
          <a:xfrm>
            <a:off x="110299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16A893-2629-47C4-8A22-A72B89ECA7A3}"/>
              </a:ext>
            </a:extLst>
          </p:cNvPr>
          <p:cNvSpPr>
            <a:spLocks noGrp="1"/>
          </p:cNvSpPr>
          <p:nvPr/>
        </p:nvSpPr>
        <p:spPr>
          <a:xfrm>
            <a:off x="11049000" y="49530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153E603-290C-40E6-B919-D02D1FB49149}"/>
              </a:ext>
            </a:extLst>
          </p:cNvPr>
          <p:cNvSpPr>
            <a:spLocks noGrp="1"/>
          </p:cNvSpPr>
          <p:nvPr/>
        </p:nvSpPr>
        <p:spPr>
          <a:xfrm>
            <a:off x="800100" y="1181100"/>
            <a:ext cx="133350" cy="228600"/>
          </a:xfrm>
          <a:prstGeom prst="roundRect">
            <a:avLst>
              <a:gd name="adj" fmla="val 14286"/>
            </a:avLst>
          </a:prstGeom>
          <a:solidFill>
            <a:srgbClr val="FF7417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561DC56-CB5F-43D7-9E99-3658BCC18C9B}"/>
              </a:ext>
            </a:extLst>
          </p:cNvPr>
          <p:cNvSpPr>
            <a:spLocks noGrp="1"/>
          </p:cNvSpPr>
          <p:nvPr/>
        </p:nvSpPr>
        <p:spPr>
          <a:xfrm>
            <a:off x="1104900" y="1066800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区间位图与席位复用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84E23A-28A0-4E6F-B91D-E95B5A97A5AD}"/>
              </a:ext>
            </a:extLst>
          </p:cNvPr>
          <p:cNvSpPr>
            <a:spLocks noGrp="1"/>
          </p:cNvSpPr>
          <p:nvPr/>
        </p:nvSpPr>
        <p:spPr>
          <a:xfrm>
            <a:off x="800100" y="1676400"/>
            <a:ext cx="10648950" cy="9525"/>
          </a:xfrm>
          <a:prstGeom prst="rect">
            <a:avLst/>
          </a:prstGeom>
          <a:solidFill>
            <a:srgbClr val="EEE5DE"/>
          </a:solidFill>
          <a:ln w="0">
            <a:noFill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9E2512D-FEFE-4E13-BA89-8FDA72EBE965}"/>
              </a:ext>
            </a:extLst>
          </p:cNvPr>
          <p:cNvSpPr>
            <a:spLocks noGrp="1"/>
          </p:cNvSpPr>
          <p:nvPr/>
        </p:nvSpPr>
        <p:spPr>
          <a:xfrm>
            <a:off x="800100" y="1952625"/>
            <a:ext cx="6229350" cy="4000500"/>
          </a:xfrm>
          <a:prstGeom prst="roundRect">
            <a:avLst>
              <a:gd name="adj" fmla="val 3810"/>
            </a:avLst>
          </a:prstGeom>
          <a:solidFill>
            <a:srgbClr val="FFF8F2"/>
          </a:solidFill>
          <a:ln w="9525">
            <a:solidFill>
              <a:srgbClr val="FFD7B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647AC23-81ED-4044-A1E0-70966AEEE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8237" y="2066925"/>
            <a:ext cx="5653075" cy="3771900"/>
          </a:xfrm>
          <a:prstGeom prst="roundRect">
            <a:avLst>
              <a:gd name="adj" fmla="val 3030"/>
            </a:avLst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4169330E-CDE7-4478-8CAB-EB0DD2A618F6}"/>
              </a:ext>
            </a:extLst>
          </p:cNvPr>
          <p:cNvSpPr>
            <a:spLocks noGrp="1"/>
          </p:cNvSpPr>
          <p:nvPr/>
        </p:nvSpPr>
        <p:spPr>
          <a:xfrm>
            <a:off x="7467600" y="2076450"/>
            <a:ext cx="3429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一个整数表示整条线路的占用状态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244869C3-E8DD-4DAD-A01F-9E66F6B51630}"/>
              </a:ext>
            </a:extLst>
          </p:cNvPr>
          <p:cNvSpPr>
            <a:spLocks noGrp="1"/>
          </p:cNvSpPr>
          <p:nvPr/>
        </p:nvSpPr>
        <p:spPr>
          <a:xfrm>
            <a:off x="7467600" y="2876550"/>
            <a:ext cx="285750" cy="285750"/>
          </a:xfrm>
          <a:prstGeom prst="ellipse">
            <a:avLst/>
          </a:prstGeom>
          <a:solidFill>
            <a:srgbClr val="FFF0E5"/>
          </a:solidFill>
          <a:ln w="9525">
            <a:solidFill>
              <a:srgbClr val="FFD3B5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0FC0339-EA57-4ED8-8299-4CD35BB003A8}"/>
              </a:ext>
            </a:extLst>
          </p:cNvPr>
          <p:cNvSpPr>
            <a:spLocks noGrp="1"/>
          </p:cNvSpPr>
          <p:nvPr/>
        </p:nvSpPr>
        <p:spPr>
          <a:xfrm>
            <a:off x="7467600" y="2867025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79D0A17-923E-493B-88BF-DB0B397A70DF}"/>
              </a:ext>
            </a:extLst>
          </p:cNvPr>
          <p:cNvSpPr>
            <a:spLocks noGrp="1"/>
          </p:cNvSpPr>
          <p:nvPr/>
        </p:nvSpPr>
        <p:spPr>
          <a:xfrm>
            <a:off x="7886700" y="2857500"/>
            <a:ext cx="3105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区间编码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E29452F-7FF2-4AEA-B151-42F28A7CC9B0}"/>
              </a:ext>
            </a:extLst>
          </p:cNvPr>
          <p:cNvSpPr>
            <a:spLocks noGrp="1"/>
          </p:cNvSpPr>
          <p:nvPr/>
        </p:nvSpPr>
        <p:spPr>
          <a:xfrm>
            <a:off x="7886700" y="3152775"/>
            <a:ext cx="31051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相邻车站之间的区段映射为二进制位，运行座位用BIGINT保存占用位图。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F96E83AB-BE25-4074-B0A8-4E8F11FD5C7C}"/>
              </a:ext>
            </a:extLst>
          </p:cNvPr>
          <p:cNvSpPr>
            <a:spLocks noGrp="1"/>
          </p:cNvSpPr>
          <p:nvPr/>
        </p:nvSpPr>
        <p:spPr>
          <a:xfrm>
            <a:off x="7467600" y="3867150"/>
            <a:ext cx="285750" cy="285750"/>
          </a:xfrm>
          <a:prstGeom prst="ellipse">
            <a:avLst/>
          </a:prstGeom>
          <a:solidFill>
            <a:srgbClr val="FFF0E5"/>
          </a:solidFill>
          <a:ln w="9525">
            <a:solidFill>
              <a:srgbClr val="FFD3B5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F3F7D72-5E13-4D97-B401-4E6F15589A11}"/>
              </a:ext>
            </a:extLst>
          </p:cNvPr>
          <p:cNvSpPr>
            <a:spLocks noGrp="1"/>
          </p:cNvSpPr>
          <p:nvPr/>
        </p:nvSpPr>
        <p:spPr>
          <a:xfrm>
            <a:off x="7467600" y="3857625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640EBDA-1F58-4152-BF3A-040038FFEAA0}"/>
              </a:ext>
            </a:extLst>
          </p:cNvPr>
          <p:cNvSpPr>
            <a:spLocks noGrp="1"/>
          </p:cNvSpPr>
          <p:nvPr/>
        </p:nvSpPr>
        <p:spPr>
          <a:xfrm>
            <a:off x="7886700" y="3848100"/>
            <a:ext cx="3105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冲突判定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F80BA82-B5DE-4DA5-9393-1606946236D8}"/>
              </a:ext>
            </a:extLst>
          </p:cNvPr>
          <p:cNvSpPr>
            <a:spLocks noGrp="1"/>
          </p:cNvSpPr>
          <p:nvPr/>
        </p:nvSpPr>
        <p:spPr>
          <a:xfrm>
            <a:off x="7886700" y="4143375"/>
            <a:ext cx="31051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请求位图与占用位图按位与。结果为0时，所选区间没有重叠。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900BB67F-64F0-452D-AAC2-D0B3D0F41329}"/>
              </a:ext>
            </a:extLst>
          </p:cNvPr>
          <p:cNvSpPr>
            <a:spLocks noGrp="1"/>
          </p:cNvSpPr>
          <p:nvPr/>
        </p:nvSpPr>
        <p:spPr>
          <a:xfrm>
            <a:off x="7467600" y="4857750"/>
            <a:ext cx="285750" cy="285750"/>
          </a:xfrm>
          <a:prstGeom prst="ellipse">
            <a:avLst/>
          </a:prstGeom>
          <a:solidFill>
            <a:srgbClr val="FFF0E5"/>
          </a:solidFill>
          <a:ln w="9525">
            <a:solidFill>
              <a:srgbClr val="FFD3B5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2469EED-F710-41C2-9B3F-9EC45E0DE747}"/>
              </a:ext>
            </a:extLst>
          </p:cNvPr>
          <p:cNvSpPr>
            <a:spLocks noGrp="1"/>
          </p:cNvSpPr>
          <p:nvPr/>
        </p:nvSpPr>
        <p:spPr>
          <a:xfrm>
            <a:off x="7467600" y="4848225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07F1D04-423F-4CED-9A80-2DE98D6C0E84}"/>
              </a:ext>
            </a:extLst>
          </p:cNvPr>
          <p:cNvSpPr>
            <a:spLocks noGrp="1"/>
          </p:cNvSpPr>
          <p:nvPr/>
        </p:nvSpPr>
        <p:spPr>
          <a:xfrm>
            <a:off x="7886700" y="4838700"/>
            <a:ext cx="3105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更新规则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CD6A8B9-FEC0-42E8-A9D4-18A60A60F6FE}"/>
              </a:ext>
            </a:extLst>
          </p:cNvPr>
          <p:cNvSpPr>
            <a:spLocks noGrp="1"/>
          </p:cNvSpPr>
          <p:nvPr/>
        </p:nvSpPr>
        <p:spPr>
          <a:xfrm>
            <a:off x="7886700" y="5133975"/>
            <a:ext cx="31051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购票执行按位或，退票执行按位与非，只修改相关区间。</a:t>
            </a:r>
          </a:p>
        </p:txBody>
      </p:sp>
    </p:spTree>
    <p:extLst>
      <p:ext uri="{BB962C8B-B14F-4D97-AF65-F5344CB8AC3E}">
        <p14:creationId xmlns:p14="http://schemas.microsoft.com/office/powerpoint/2010/main" val="448421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06E6566F-B8FD-41CD-87CF-EE567ECA7F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3"/>
          </a:solidFill>
          <a:ln w="0">
            <a:noFill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E84BC62-A97D-4204-BD6A-0E19CE24E2BB}"/>
              </a:ext>
            </a:extLst>
          </p:cNvPr>
          <p:cNvSpPr>
            <a:spLocks noGrp="1"/>
          </p:cNvSpPr>
          <p:nvPr/>
        </p:nvSpPr>
        <p:spPr>
          <a:xfrm>
            <a:off x="-2571750" y="-3714750"/>
            <a:ext cx="11334750" cy="5810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977B1E2-DD80-445B-B89D-415960A8FEF8}"/>
              </a:ext>
            </a:extLst>
          </p:cNvPr>
          <p:cNvSpPr>
            <a:spLocks noGrp="1"/>
          </p:cNvSpPr>
          <p:nvPr/>
        </p:nvSpPr>
        <p:spPr>
          <a:xfrm>
            <a:off x="5095875" y="-4953000"/>
            <a:ext cx="10001250" cy="6238875"/>
          </a:xfrm>
          <a:prstGeom prst="ellipse">
            <a:avLst/>
          </a:prstGeom>
          <a:solidFill>
            <a:srgbClr val="FFFDFB"/>
          </a:solidFill>
          <a:ln w="0">
            <a:noFill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4008F96-C8D3-4E5B-889A-4853161427DA}"/>
              </a:ext>
            </a:extLst>
          </p:cNvPr>
          <p:cNvSpPr>
            <a:spLocks noGrp="1"/>
          </p:cNvSpPr>
          <p:nvPr/>
        </p:nvSpPr>
        <p:spPr>
          <a:xfrm>
            <a:off x="-2857500" y="5334000"/>
            <a:ext cx="10477500" cy="29527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1050BD8-9578-4802-8353-2921F4B84A71}"/>
              </a:ext>
            </a:extLst>
          </p:cNvPr>
          <p:cNvSpPr>
            <a:spLocks noGrp="1"/>
          </p:cNvSpPr>
          <p:nvPr/>
        </p:nvSpPr>
        <p:spPr>
          <a:xfrm>
            <a:off x="3714750" y="5095875"/>
            <a:ext cx="11239500" cy="3143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DCB3BDA-7D01-4A05-8F17-CF2944F0F3AC}"/>
              </a:ext>
            </a:extLst>
          </p:cNvPr>
          <p:cNvSpPr>
            <a:spLocks noGrp="1"/>
          </p:cNvSpPr>
          <p:nvPr/>
        </p:nvSpPr>
        <p:spPr>
          <a:xfrm>
            <a:off x="2286000" y="4495800"/>
            <a:ext cx="10287000" cy="2476500"/>
          </a:xfrm>
          <a:prstGeom prst="ellipse">
            <a:avLst/>
          </a:prstGeom>
          <a:solidFill>
            <a:srgbClr val="FFC89F"/>
          </a:solidFill>
          <a:ln w="0">
            <a:noFill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ABACD50-A8C1-4020-9AD1-21AFEE02513B}"/>
              </a:ext>
            </a:extLst>
          </p:cNvPr>
          <p:cNvSpPr>
            <a:spLocks noGrp="1"/>
          </p:cNvSpPr>
          <p:nvPr/>
        </p:nvSpPr>
        <p:spPr>
          <a:xfrm>
            <a:off x="438150" y="285750"/>
            <a:ext cx="11315700" cy="6286500"/>
          </a:xfrm>
          <a:prstGeom prst="roundRect">
            <a:avLst>
              <a:gd name="adj" fmla="val 3636"/>
            </a:avLst>
          </a:prstGeom>
          <a:solidFill>
            <a:srgbClr val="FFFDFB"/>
          </a:solidFill>
          <a:ln w="9525">
            <a:solidFill>
              <a:srgbClr val="F4E9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38D2E5F-2EF4-44F9-B77D-9F8DBFFB8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503324"/>
            <a:ext cx="552450" cy="27922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ACEE782-2853-459F-9E36-2E4795A4438D}"/>
              </a:ext>
            </a:extLst>
          </p:cNvPr>
          <p:cNvSpPr>
            <a:spLocks noGrp="1"/>
          </p:cNvSpPr>
          <p:nvPr/>
        </p:nvSpPr>
        <p:spPr>
          <a:xfrm>
            <a:off x="781050" y="762000"/>
            <a:ext cx="476250" cy="114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8CBB059-3CEC-49CA-AEC4-AE1EAEFC0919}"/>
              </a:ext>
            </a:extLst>
          </p:cNvPr>
          <p:cNvSpPr>
            <a:spLocks noGrp="1"/>
          </p:cNvSpPr>
          <p:nvPr/>
        </p:nvSpPr>
        <p:spPr>
          <a:xfrm>
            <a:off x="1409700" y="514350"/>
            <a:ext cx="135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ED26993-1E48-4629-AC2B-FB42620EAD89}"/>
              </a:ext>
            </a:extLst>
          </p:cNvPr>
          <p:cNvSpPr>
            <a:spLocks noGrp="1"/>
          </p:cNvSpPr>
          <p:nvPr/>
        </p:nvSpPr>
        <p:spPr>
          <a:xfrm>
            <a:off x="101917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5BCEF74-66FD-449C-A069-A4864658F301}"/>
              </a:ext>
            </a:extLst>
          </p:cNvPr>
          <p:cNvSpPr>
            <a:spLocks noGrp="1"/>
          </p:cNvSpPr>
          <p:nvPr/>
        </p:nvSpPr>
        <p:spPr>
          <a:xfrm>
            <a:off x="1040130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C2397D4-EE56-4137-A946-D28FD3F00335}"/>
              </a:ext>
            </a:extLst>
          </p:cNvPr>
          <p:cNvSpPr>
            <a:spLocks noGrp="1"/>
          </p:cNvSpPr>
          <p:nvPr/>
        </p:nvSpPr>
        <p:spPr>
          <a:xfrm>
            <a:off x="106108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83705B6-BD51-4F72-B073-908AFAE62981}"/>
              </a:ext>
            </a:extLst>
          </p:cNvPr>
          <p:cNvSpPr>
            <a:spLocks noGrp="1"/>
          </p:cNvSpPr>
          <p:nvPr/>
        </p:nvSpPr>
        <p:spPr>
          <a:xfrm>
            <a:off x="1082040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76C5BDB-0EED-4735-945A-54306E5A3D7A}"/>
              </a:ext>
            </a:extLst>
          </p:cNvPr>
          <p:cNvSpPr>
            <a:spLocks noGrp="1"/>
          </p:cNvSpPr>
          <p:nvPr/>
        </p:nvSpPr>
        <p:spPr>
          <a:xfrm>
            <a:off x="11029950" y="561975"/>
            <a:ext cx="95250" cy="952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7A45E6-980A-489F-9025-89CACFDDD9C2}"/>
              </a:ext>
            </a:extLst>
          </p:cNvPr>
          <p:cNvSpPr>
            <a:spLocks noGrp="1"/>
          </p:cNvSpPr>
          <p:nvPr/>
        </p:nvSpPr>
        <p:spPr>
          <a:xfrm>
            <a:off x="11049000" y="49530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A3C3583-4CD0-4E99-B681-18EA0F132250}"/>
              </a:ext>
            </a:extLst>
          </p:cNvPr>
          <p:cNvSpPr>
            <a:spLocks noGrp="1"/>
          </p:cNvSpPr>
          <p:nvPr/>
        </p:nvSpPr>
        <p:spPr>
          <a:xfrm>
            <a:off x="800100" y="1181100"/>
            <a:ext cx="133350" cy="228600"/>
          </a:xfrm>
          <a:prstGeom prst="roundRect">
            <a:avLst>
              <a:gd name="adj" fmla="val 14286"/>
            </a:avLst>
          </a:prstGeom>
          <a:solidFill>
            <a:srgbClr val="FF7417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EA103C1-D2DD-47FD-8233-76CAB306C635}"/>
              </a:ext>
            </a:extLst>
          </p:cNvPr>
          <p:cNvSpPr>
            <a:spLocks noGrp="1"/>
          </p:cNvSpPr>
          <p:nvPr/>
        </p:nvSpPr>
        <p:spPr>
          <a:xfrm>
            <a:off x="1104900" y="1066800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并发购票与事务行锁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CDD2914-5218-4D69-AF3F-1302CE712A29}"/>
              </a:ext>
            </a:extLst>
          </p:cNvPr>
          <p:cNvSpPr>
            <a:spLocks noGrp="1"/>
          </p:cNvSpPr>
          <p:nvPr/>
        </p:nvSpPr>
        <p:spPr>
          <a:xfrm>
            <a:off x="800100" y="1676400"/>
            <a:ext cx="10648950" cy="9525"/>
          </a:xfrm>
          <a:prstGeom prst="rect">
            <a:avLst/>
          </a:prstGeom>
          <a:solidFill>
            <a:srgbClr val="EEE5DE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2ED9D83-E6BB-4106-9684-43EA3F3EBDF1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3714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最后一张票只允许一个事务成功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F5C8CB5-7FCB-4406-9957-D55DF78DC7C9}"/>
              </a:ext>
            </a:extLst>
          </p:cNvPr>
          <p:cNvSpPr>
            <a:spLocks noGrp="1"/>
          </p:cNvSpPr>
          <p:nvPr/>
        </p:nvSpPr>
        <p:spPr>
          <a:xfrm>
            <a:off x="876300" y="2781300"/>
            <a:ext cx="876300" cy="361950"/>
          </a:xfrm>
          <a:prstGeom prst="roundRect">
            <a:avLst>
              <a:gd name="adj" fmla="val 21053"/>
            </a:avLst>
          </a:prstGeom>
          <a:solidFill>
            <a:srgbClr val="FFF0E5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E4C9AC4-D4EF-427D-A0CC-2FE3171E3ADB}"/>
              </a:ext>
            </a:extLst>
          </p:cNvPr>
          <p:cNvSpPr>
            <a:spLocks noGrp="1"/>
          </p:cNvSpPr>
          <p:nvPr/>
        </p:nvSpPr>
        <p:spPr>
          <a:xfrm>
            <a:off x="876300" y="2781300"/>
            <a:ext cx="876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1125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rPr>
              <a:t>锁定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0DB4970-A9D9-4E77-BAF8-141ADA8E4587}"/>
              </a:ext>
            </a:extLst>
          </p:cNvPr>
          <p:cNvSpPr>
            <a:spLocks noGrp="1"/>
          </p:cNvSpPr>
          <p:nvPr/>
        </p:nvSpPr>
        <p:spPr>
          <a:xfrm>
            <a:off x="1943100" y="2762250"/>
            <a:ext cx="27813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SELECT ... FOR UPDATE锁定候选座位，阻止并发修改。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47118FE-433A-46A9-9BCE-8A8F0B6DF375}"/>
              </a:ext>
            </a:extLst>
          </p:cNvPr>
          <p:cNvSpPr>
            <a:spLocks noGrp="1"/>
          </p:cNvSpPr>
          <p:nvPr/>
        </p:nvSpPr>
        <p:spPr>
          <a:xfrm>
            <a:off x="876300" y="3733800"/>
            <a:ext cx="876300" cy="361950"/>
          </a:xfrm>
          <a:prstGeom prst="roundRect">
            <a:avLst>
              <a:gd name="adj" fmla="val 21053"/>
            </a:avLst>
          </a:prstGeom>
          <a:solidFill>
            <a:srgbClr val="FF7417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3B5E935-E3DA-49A4-9573-21255155CDF1}"/>
              </a:ext>
            </a:extLst>
          </p:cNvPr>
          <p:cNvSpPr>
            <a:spLocks noGrp="1"/>
          </p:cNvSpPr>
          <p:nvPr/>
        </p:nvSpPr>
        <p:spPr>
          <a:xfrm>
            <a:off x="876300" y="3733800"/>
            <a:ext cx="876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复核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0573A95-0AE6-4CC2-9E88-FB00C89F1580}"/>
              </a:ext>
            </a:extLst>
          </p:cNvPr>
          <p:cNvSpPr>
            <a:spLocks noGrp="1"/>
          </p:cNvSpPr>
          <p:nvPr/>
        </p:nvSpPr>
        <p:spPr>
          <a:xfrm>
            <a:off x="1943100" y="3714750"/>
            <a:ext cx="27813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获得锁后重新计算位图，消除查询与写入之间的时间差。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6F0C88A-DB6C-42DD-90BF-787B985C4D67}"/>
              </a:ext>
            </a:extLst>
          </p:cNvPr>
          <p:cNvSpPr>
            <a:spLocks noGrp="1"/>
          </p:cNvSpPr>
          <p:nvPr/>
        </p:nvSpPr>
        <p:spPr>
          <a:xfrm>
            <a:off x="876300" y="4686300"/>
            <a:ext cx="876300" cy="361950"/>
          </a:xfrm>
          <a:prstGeom prst="roundRect">
            <a:avLst>
              <a:gd name="adj" fmla="val 21053"/>
            </a:avLst>
          </a:prstGeom>
          <a:solidFill>
            <a:srgbClr val="FFF0E5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63C8EAC-7EAE-48CE-A57A-4B53783629B6}"/>
              </a:ext>
            </a:extLst>
          </p:cNvPr>
          <p:cNvSpPr>
            <a:spLocks noGrp="1"/>
          </p:cNvSpPr>
          <p:nvPr/>
        </p:nvSpPr>
        <p:spPr>
          <a:xfrm>
            <a:off x="876300" y="4686300"/>
            <a:ext cx="876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1125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E96F070-50F6-48DB-9720-EDA4E0E2ABE2}"/>
              </a:ext>
            </a:extLst>
          </p:cNvPr>
          <p:cNvSpPr>
            <a:spLocks noGrp="1"/>
          </p:cNvSpPr>
          <p:nvPr/>
        </p:nvSpPr>
        <p:spPr>
          <a:xfrm>
            <a:off x="1943100" y="4667250"/>
            <a:ext cx="27813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订单、座位分配和库存更新在一个事务内原子提交。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9C3148ED-F22F-4495-A50D-3DD56F59C860}"/>
              </a:ext>
            </a:extLst>
          </p:cNvPr>
          <p:cNvSpPr>
            <a:spLocks noGrp="1"/>
          </p:cNvSpPr>
          <p:nvPr/>
        </p:nvSpPr>
        <p:spPr>
          <a:xfrm>
            <a:off x="5010150" y="1952625"/>
            <a:ext cx="6153150" cy="4000500"/>
          </a:xfrm>
          <a:prstGeom prst="roundRect">
            <a:avLst>
              <a:gd name="adj" fmla="val 3810"/>
            </a:avLst>
          </a:prstGeom>
          <a:solidFill>
            <a:srgbClr val="FFF8F2"/>
          </a:solidFill>
          <a:ln w="9525">
            <a:solidFill>
              <a:srgbClr val="FFD7B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EC9E6A4E-1DC8-4132-A15D-DA9766ED1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124450" y="2403607"/>
            <a:ext cx="5924550" cy="3098536"/>
          </a:xfrm>
          <a:prstGeom prst="roundRect">
            <a:avLst>
              <a:gd name="adj" fmla="val 3030"/>
            </a:avLst>
          </a:prstGeom>
        </p:spPr>
      </p:pic>
    </p:spTree>
    <p:extLst>
      <p:ext uri="{BB962C8B-B14F-4D97-AF65-F5344CB8AC3E}">
        <p14:creationId xmlns:p14="http://schemas.microsoft.com/office/powerpoint/2010/main" val="639424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A1524FD-16CD-4B44-A389-070AF19AC3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3"/>
          </a:solidFill>
          <a:ln w="0">
            <a:noFill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CC1BA7D-BFAC-457C-AFBD-650CC423C9D1}"/>
              </a:ext>
            </a:extLst>
          </p:cNvPr>
          <p:cNvSpPr>
            <a:spLocks noGrp="1"/>
          </p:cNvSpPr>
          <p:nvPr/>
        </p:nvSpPr>
        <p:spPr>
          <a:xfrm>
            <a:off x="-2571750" y="-3714750"/>
            <a:ext cx="11334750" cy="5810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C955E63-0503-4486-B2CE-03EF1776DE30}"/>
              </a:ext>
            </a:extLst>
          </p:cNvPr>
          <p:cNvSpPr>
            <a:spLocks noGrp="1"/>
          </p:cNvSpPr>
          <p:nvPr/>
        </p:nvSpPr>
        <p:spPr>
          <a:xfrm>
            <a:off x="5095875" y="-4953000"/>
            <a:ext cx="10001250" cy="6238875"/>
          </a:xfrm>
          <a:prstGeom prst="ellipse">
            <a:avLst/>
          </a:prstGeom>
          <a:solidFill>
            <a:srgbClr val="FFFDFB"/>
          </a:solidFill>
          <a:ln w="0">
            <a:noFill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D27EC40-4CAE-46FB-8688-F36FC113F0D2}"/>
              </a:ext>
            </a:extLst>
          </p:cNvPr>
          <p:cNvSpPr>
            <a:spLocks noGrp="1"/>
          </p:cNvSpPr>
          <p:nvPr/>
        </p:nvSpPr>
        <p:spPr>
          <a:xfrm>
            <a:off x="-2857500" y="5334000"/>
            <a:ext cx="10477500" cy="29527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0B21525-19BB-4A1B-8FE0-384952AAD643}"/>
              </a:ext>
            </a:extLst>
          </p:cNvPr>
          <p:cNvSpPr>
            <a:spLocks noGrp="1"/>
          </p:cNvSpPr>
          <p:nvPr/>
        </p:nvSpPr>
        <p:spPr>
          <a:xfrm>
            <a:off x="3714750" y="5095875"/>
            <a:ext cx="11239500" cy="3143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F267E7E-89A2-461A-B8D5-B855AEFA58D3}"/>
              </a:ext>
            </a:extLst>
          </p:cNvPr>
          <p:cNvSpPr>
            <a:spLocks noGrp="1"/>
          </p:cNvSpPr>
          <p:nvPr/>
        </p:nvSpPr>
        <p:spPr>
          <a:xfrm>
            <a:off x="2286000" y="4495800"/>
            <a:ext cx="10287000" cy="2476500"/>
          </a:xfrm>
          <a:prstGeom prst="ellipse">
            <a:avLst/>
          </a:prstGeom>
          <a:solidFill>
            <a:srgbClr val="FFC89F"/>
          </a:solidFill>
          <a:ln w="0">
            <a:noFill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0246D38-415B-4001-863D-F2B6B8EEBC0D}"/>
              </a:ext>
            </a:extLst>
          </p:cNvPr>
          <p:cNvSpPr>
            <a:spLocks noGrp="1"/>
          </p:cNvSpPr>
          <p:nvPr/>
        </p:nvSpPr>
        <p:spPr>
          <a:xfrm>
            <a:off x="438150" y="285750"/>
            <a:ext cx="11315700" cy="6286500"/>
          </a:xfrm>
          <a:prstGeom prst="roundRect">
            <a:avLst>
              <a:gd name="adj" fmla="val 3636"/>
            </a:avLst>
          </a:prstGeom>
          <a:solidFill>
            <a:srgbClr val="FFFDFB"/>
          </a:solidFill>
          <a:ln w="9525">
            <a:solidFill>
              <a:srgbClr val="F4E9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7989664-6C40-400F-9EC9-7EB18B40E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503324"/>
            <a:ext cx="552450" cy="27922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CB21F2A-776C-4F28-86A3-CD86EAB002A6}"/>
              </a:ext>
            </a:extLst>
          </p:cNvPr>
          <p:cNvSpPr>
            <a:spLocks noGrp="1"/>
          </p:cNvSpPr>
          <p:nvPr/>
        </p:nvSpPr>
        <p:spPr>
          <a:xfrm>
            <a:off x="781050" y="762000"/>
            <a:ext cx="476250" cy="114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AD6FAA-6365-42CE-B98B-C1F66440ECF6}"/>
              </a:ext>
            </a:extLst>
          </p:cNvPr>
          <p:cNvSpPr>
            <a:spLocks noGrp="1"/>
          </p:cNvSpPr>
          <p:nvPr/>
        </p:nvSpPr>
        <p:spPr>
          <a:xfrm>
            <a:off x="1409700" y="514350"/>
            <a:ext cx="135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EE30143-FBD3-405B-B69E-D76844E9C3C4}"/>
              </a:ext>
            </a:extLst>
          </p:cNvPr>
          <p:cNvSpPr>
            <a:spLocks noGrp="1"/>
          </p:cNvSpPr>
          <p:nvPr/>
        </p:nvSpPr>
        <p:spPr>
          <a:xfrm>
            <a:off x="101917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FB2E8EA-35D4-45FA-990E-3D1CABADA225}"/>
              </a:ext>
            </a:extLst>
          </p:cNvPr>
          <p:cNvSpPr>
            <a:spLocks noGrp="1"/>
          </p:cNvSpPr>
          <p:nvPr/>
        </p:nvSpPr>
        <p:spPr>
          <a:xfrm>
            <a:off x="1040130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3B8E925-A561-454F-A29A-BC76AB12A8B4}"/>
              </a:ext>
            </a:extLst>
          </p:cNvPr>
          <p:cNvSpPr>
            <a:spLocks noGrp="1"/>
          </p:cNvSpPr>
          <p:nvPr/>
        </p:nvSpPr>
        <p:spPr>
          <a:xfrm>
            <a:off x="106108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429E382-8D3F-4E16-9130-4583E27F29E6}"/>
              </a:ext>
            </a:extLst>
          </p:cNvPr>
          <p:cNvSpPr>
            <a:spLocks noGrp="1"/>
          </p:cNvSpPr>
          <p:nvPr/>
        </p:nvSpPr>
        <p:spPr>
          <a:xfrm>
            <a:off x="1082040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55F8911-D83C-4908-A8DD-B19515952E7D}"/>
              </a:ext>
            </a:extLst>
          </p:cNvPr>
          <p:cNvSpPr>
            <a:spLocks noGrp="1"/>
          </p:cNvSpPr>
          <p:nvPr/>
        </p:nvSpPr>
        <p:spPr>
          <a:xfrm>
            <a:off x="11029950" y="561975"/>
            <a:ext cx="95250" cy="952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D259086-5001-4686-84B2-D93C01D20CB0}"/>
              </a:ext>
            </a:extLst>
          </p:cNvPr>
          <p:cNvSpPr>
            <a:spLocks noGrp="1"/>
          </p:cNvSpPr>
          <p:nvPr/>
        </p:nvSpPr>
        <p:spPr>
          <a:xfrm>
            <a:off x="11049000" y="49530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8EC8CA8-2C46-49F7-9935-39944E6A58E4}"/>
              </a:ext>
            </a:extLst>
          </p:cNvPr>
          <p:cNvSpPr>
            <a:spLocks noGrp="1"/>
          </p:cNvSpPr>
          <p:nvPr/>
        </p:nvSpPr>
        <p:spPr>
          <a:xfrm>
            <a:off x="800100" y="1181100"/>
            <a:ext cx="133350" cy="228600"/>
          </a:xfrm>
          <a:prstGeom prst="roundRect">
            <a:avLst>
              <a:gd name="adj" fmla="val 14286"/>
            </a:avLst>
          </a:prstGeom>
          <a:solidFill>
            <a:srgbClr val="FF7417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80BEAD3-649A-4939-9F5D-B14D6BB75523}"/>
              </a:ext>
            </a:extLst>
          </p:cNvPr>
          <p:cNvSpPr>
            <a:spLocks noGrp="1"/>
          </p:cNvSpPr>
          <p:nvPr/>
        </p:nvSpPr>
        <p:spPr>
          <a:xfrm>
            <a:off x="1104900" y="1066800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持久化订票缓冲与Redis唤醒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DF16E3-351A-450A-AA8E-947103110BFC}"/>
              </a:ext>
            </a:extLst>
          </p:cNvPr>
          <p:cNvSpPr>
            <a:spLocks noGrp="1"/>
          </p:cNvSpPr>
          <p:nvPr/>
        </p:nvSpPr>
        <p:spPr>
          <a:xfrm>
            <a:off x="800100" y="1676400"/>
            <a:ext cx="10648950" cy="9525"/>
          </a:xfrm>
          <a:prstGeom prst="rect">
            <a:avLst/>
          </a:prstGeom>
          <a:solidFill>
            <a:srgbClr val="EEE5DE"/>
          </a:solidFill>
          <a:ln w="0">
            <a:noFill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156DB5E-3675-4EFB-B843-20C8B24AE5D8}"/>
              </a:ext>
            </a:extLst>
          </p:cNvPr>
          <p:cNvSpPr>
            <a:spLocks noGrp="1"/>
          </p:cNvSpPr>
          <p:nvPr/>
        </p:nvSpPr>
        <p:spPr>
          <a:xfrm>
            <a:off x="800100" y="1952625"/>
            <a:ext cx="6229350" cy="4000500"/>
          </a:xfrm>
          <a:prstGeom prst="roundRect">
            <a:avLst>
              <a:gd name="adj" fmla="val 3810"/>
            </a:avLst>
          </a:prstGeom>
          <a:solidFill>
            <a:srgbClr val="FFF8F2"/>
          </a:solidFill>
          <a:ln w="9525">
            <a:solidFill>
              <a:srgbClr val="FFD7B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D1E34FA-1909-4113-B963-C4D761DF4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14400" y="2485093"/>
            <a:ext cx="6000750" cy="2935564"/>
          </a:xfrm>
          <a:prstGeom prst="roundRect">
            <a:avLst>
              <a:gd name="adj" fmla="val 3030"/>
            </a:avLst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A8140A6C-9745-4D72-88DB-46217B624589}"/>
              </a:ext>
            </a:extLst>
          </p:cNvPr>
          <p:cNvSpPr>
            <a:spLocks noGrp="1"/>
          </p:cNvSpPr>
          <p:nvPr/>
        </p:nvSpPr>
        <p:spPr>
          <a:xfrm>
            <a:off x="7467600" y="2076450"/>
            <a:ext cx="342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削峰与可靠性同时成立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C07E895-9D6C-4667-9D21-9BF0CF66F6EC}"/>
              </a:ext>
            </a:extLst>
          </p:cNvPr>
          <p:cNvSpPr>
            <a:spLocks noGrp="1"/>
          </p:cNvSpPr>
          <p:nvPr/>
        </p:nvSpPr>
        <p:spPr>
          <a:xfrm>
            <a:off x="7467600" y="2724150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权威数据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9180895-75BE-421A-95FC-906E1126A851}"/>
              </a:ext>
            </a:extLst>
          </p:cNvPr>
          <p:cNvSpPr>
            <a:spLocks noGrp="1"/>
          </p:cNvSpPr>
          <p:nvPr/>
        </p:nvSpPr>
        <p:spPr>
          <a:xfrm>
            <a:off x="7467600" y="3057525"/>
            <a:ext cx="914400" cy="28575"/>
          </a:xfrm>
          <a:prstGeom prst="rect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59545D3-7FA7-4670-9CC8-52450D0DC954}"/>
              </a:ext>
            </a:extLst>
          </p:cNvPr>
          <p:cNvSpPr>
            <a:spLocks noGrp="1"/>
          </p:cNvSpPr>
          <p:nvPr/>
        </p:nvSpPr>
        <p:spPr>
          <a:xfrm>
            <a:off x="8610600" y="2705100"/>
            <a:ext cx="2381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订票请求先进入MySQL持久缓冲表，服务重启后仍可继续处理。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ECEB0FF-3580-44F6-9AC6-7993EF808302}"/>
              </a:ext>
            </a:extLst>
          </p:cNvPr>
          <p:cNvSpPr>
            <a:spLocks noGrp="1"/>
          </p:cNvSpPr>
          <p:nvPr/>
        </p:nvSpPr>
        <p:spPr>
          <a:xfrm>
            <a:off x="7467600" y="3714750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快速唤醒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A2793B6-68FF-4E05-8D1C-3CEF65DFE8F6}"/>
              </a:ext>
            </a:extLst>
          </p:cNvPr>
          <p:cNvSpPr>
            <a:spLocks noGrp="1"/>
          </p:cNvSpPr>
          <p:nvPr/>
        </p:nvSpPr>
        <p:spPr>
          <a:xfrm>
            <a:off x="7467600" y="4048125"/>
            <a:ext cx="914400" cy="28575"/>
          </a:xfrm>
          <a:prstGeom prst="rect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D4A31D1-F8C4-4E6C-A040-5E90F2A80D68}"/>
              </a:ext>
            </a:extLst>
          </p:cNvPr>
          <p:cNvSpPr>
            <a:spLocks noGrp="1"/>
          </p:cNvSpPr>
          <p:nvPr/>
        </p:nvSpPr>
        <p:spPr>
          <a:xfrm>
            <a:off x="8610600" y="3695700"/>
            <a:ext cx="2381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Redis发布轻量信号，让后台线程及时领取任务。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A1F68FE-A6B3-489D-B9AD-AD403317891C}"/>
              </a:ext>
            </a:extLst>
          </p:cNvPr>
          <p:cNvSpPr>
            <a:spLocks noGrp="1"/>
          </p:cNvSpPr>
          <p:nvPr/>
        </p:nvSpPr>
        <p:spPr>
          <a:xfrm>
            <a:off x="7467600" y="4705350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降级机制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49B721A-5350-418D-A69C-72C1FBFEC148}"/>
              </a:ext>
            </a:extLst>
          </p:cNvPr>
          <p:cNvSpPr>
            <a:spLocks noGrp="1"/>
          </p:cNvSpPr>
          <p:nvPr/>
        </p:nvSpPr>
        <p:spPr>
          <a:xfrm>
            <a:off x="7467600" y="5038725"/>
            <a:ext cx="914400" cy="28575"/>
          </a:xfrm>
          <a:prstGeom prst="rect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E7E1711-91F6-4E98-A0C9-477DE2BF8823}"/>
              </a:ext>
            </a:extLst>
          </p:cNvPr>
          <p:cNvSpPr>
            <a:spLocks noGrp="1"/>
          </p:cNvSpPr>
          <p:nvPr/>
        </p:nvSpPr>
        <p:spPr>
          <a:xfrm>
            <a:off x="8610600" y="4686300"/>
            <a:ext cx="2381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Redis不可用时回退到MySQL轮询，任务不会丢失。</a:t>
            </a:r>
          </a:p>
        </p:txBody>
      </p:sp>
    </p:spTree>
    <p:extLst>
      <p:ext uri="{BB962C8B-B14F-4D97-AF65-F5344CB8AC3E}">
        <p14:creationId xmlns:p14="http://schemas.microsoft.com/office/powerpoint/2010/main" val="2003452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D2F726ED-38A0-4846-BDD6-6350FCDBA7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3"/>
          </a:solidFill>
          <a:ln w="0">
            <a:noFill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9C6B3D2-F17C-424E-9EB0-D0A32D7C305D}"/>
              </a:ext>
            </a:extLst>
          </p:cNvPr>
          <p:cNvSpPr>
            <a:spLocks noGrp="1"/>
          </p:cNvSpPr>
          <p:nvPr/>
        </p:nvSpPr>
        <p:spPr>
          <a:xfrm>
            <a:off x="-2571750" y="-3714750"/>
            <a:ext cx="11334750" cy="5810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C3E84F2-DC8A-49F3-86A4-74A801927EAB}"/>
              </a:ext>
            </a:extLst>
          </p:cNvPr>
          <p:cNvSpPr>
            <a:spLocks noGrp="1"/>
          </p:cNvSpPr>
          <p:nvPr/>
        </p:nvSpPr>
        <p:spPr>
          <a:xfrm>
            <a:off x="5095875" y="-4953000"/>
            <a:ext cx="10001250" cy="6238875"/>
          </a:xfrm>
          <a:prstGeom prst="ellipse">
            <a:avLst/>
          </a:prstGeom>
          <a:solidFill>
            <a:srgbClr val="FFFDFB"/>
          </a:solidFill>
          <a:ln w="0">
            <a:noFill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8047206-7A4F-42C4-B399-C51F19DCAD61}"/>
              </a:ext>
            </a:extLst>
          </p:cNvPr>
          <p:cNvSpPr>
            <a:spLocks noGrp="1"/>
          </p:cNvSpPr>
          <p:nvPr/>
        </p:nvSpPr>
        <p:spPr>
          <a:xfrm>
            <a:off x="-2857500" y="5334000"/>
            <a:ext cx="10477500" cy="29527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A72ACC5-F663-4B4E-971F-DD8387B8D7B7}"/>
              </a:ext>
            </a:extLst>
          </p:cNvPr>
          <p:cNvSpPr>
            <a:spLocks noGrp="1"/>
          </p:cNvSpPr>
          <p:nvPr/>
        </p:nvSpPr>
        <p:spPr>
          <a:xfrm>
            <a:off x="3714750" y="5095875"/>
            <a:ext cx="11239500" cy="3143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42E4831-07FF-443E-9112-844426153CF4}"/>
              </a:ext>
            </a:extLst>
          </p:cNvPr>
          <p:cNvSpPr>
            <a:spLocks noGrp="1"/>
          </p:cNvSpPr>
          <p:nvPr/>
        </p:nvSpPr>
        <p:spPr>
          <a:xfrm>
            <a:off x="2286000" y="4495800"/>
            <a:ext cx="10287000" cy="2476500"/>
          </a:xfrm>
          <a:prstGeom prst="ellipse">
            <a:avLst/>
          </a:prstGeom>
          <a:solidFill>
            <a:srgbClr val="FFC89F"/>
          </a:solidFill>
          <a:ln w="0">
            <a:noFill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41ABB06-8123-49A2-AB02-31F62EA8021B}"/>
              </a:ext>
            </a:extLst>
          </p:cNvPr>
          <p:cNvSpPr>
            <a:spLocks noGrp="1"/>
          </p:cNvSpPr>
          <p:nvPr/>
        </p:nvSpPr>
        <p:spPr>
          <a:xfrm>
            <a:off x="438150" y="285750"/>
            <a:ext cx="11315700" cy="6286500"/>
          </a:xfrm>
          <a:prstGeom prst="roundRect">
            <a:avLst>
              <a:gd name="adj" fmla="val 3636"/>
            </a:avLst>
          </a:prstGeom>
          <a:solidFill>
            <a:srgbClr val="FFFDFB"/>
          </a:solidFill>
          <a:ln w="9525">
            <a:solidFill>
              <a:srgbClr val="F4E9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9FB1B37-F0A5-4BBC-8980-CA7B85B78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503324"/>
            <a:ext cx="552450" cy="27922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052C0C1-05A2-4525-B6A7-C736E28FD937}"/>
              </a:ext>
            </a:extLst>
          </p:cNvPr>
          <p:cNvSpPr>
            <a:spLocks noGrp="1"/>
          </p:cNvSpPr>
          <p:nvPr/>
        </p:nvSpPr>
        <p:spPr>
          <a:xfrm>
            <a:off x="781050" y="762000"/>
            <a:ext cx="476250" cy="114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3BD7ECD-69D2-4D08-9BFC-4CFA9EF1159A}"/>
              </a:ext>
            </a:extLst>
          </p:cNvPr>
          <p:cNvSpPr>
            <a:spLocks noGrp="1"/>
          </p:cNvSpPr>
          <p:nvPr/>
        </p:nvSpPr>
        <p:spPr>
          <a:xfrm>
            <a:off x="1409700" y="514350"/>
            <a:ext cx="135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B27B24F-77F5-4C84-B568-4A1E19765C6B}"/>
              </a:ext>
            </a:extLst>
          </p:cNvPr>
          <p:cNvSpPr>
            <a:spLocks noGrp="1"/>
          </p:cNvSpPr>
          <p:nvPr/>
        </p:nvSpPr>
        <p:spPr>
          <a:xfrm>
            <a:off x="101917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27C5628-20EE-406E-948D-B7FA7FC6F96C}"/>
              </a:ext>
            </a:extLst>
          </p:cNvPr>
          <p:cNvSpPr>
            <a:spLocks noGrp="1"/>
          </p:cNvSpPr>
          <p:nvPr/>
        </p:nvSpPr>
        <p:spPr>
          <a:xfrm>
            <a:off x="1040130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6BAD668-532D-4335-BAA0-1DCD17DBB888}"/>
              </a:ext>
            </a:extLst>
          </p:cNvPr>
          <p:cNvSpPr>
            <a:spLocks noGrp="1"/>
          </p:cNvSpPr>
          <p:nvPr/>
        </p:nvSpPr>
        <p:spPr>
          <a:xfrm>
            <a:off x="106108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9AE2107-7CA3-4356-9C7C-C4C9C1C880B1}"/>
              </a:ext>
            </a:extLst>
          </p:cNvPr>
          <p:cNvSpPr>
            <a:spLocks noGrp="1"/>
          </p:cNvSpPr>
          <p:nvPr/>
        </p:nvSpPr>
        <p:spPr>
          <a:xfrm>
            <a:off x="1082040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99048F2-E6C3-49BE-898A-8B796E64D285}"/>
              </a:ext>
            </a:extLst>
          </p:cNvPr>
          <p:cNvSpPr>
            <a:spLocks noGrp="1"/>
          </p:cNvSpPr>
          <p:nvPr/>
        </p:nvSpPr>
        <p:spPr>
          <a:xfrm>
            <a:off x="11029950" y="561975"/>
            <a:ext cx="95250" cy="952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126945-C806-459F-ABD3-8C950414C7F4}"/>
              </a:ext>
            </a:extLst>
          </p:cNvPr>
          <p:cNvSpPr>
            <a:spLocks noGrp="1"/>
          </p:cNvSpPr>
          <p:nvPr/>
        </p:nvSpPr>
        <p:spPr>
          <a:xfrm>
            <a:off x="11049000" y="49530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4321AE5-CFAC-4FD0-AF5B-83568F66A25B}"/>
              </a:ext>
            </a:extLst>
          </p:cNvPr>
          <p:cNvSpPr>
            <a:spLocks noGrp="1"/>
          </p:cNvSpPr>
          <p:nvPr/>
        </p:nvSpPr>
        <p:spPr>
          <a:xfrm>
            <a:off x="800100" y="1181100"/>
            <a:ext cx="133350" cy="228600"/>
          </a:xfrm>
          <a:prstGeom prst="roundRect">
            <a:avLst>
              <a:gd name="adj" fmla="val 14286"/>
            </a:avLst>
          </a:prstGeom>
          <a:solidFill>
            <a:srgbClr val="FF7417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FDD6399-C34F-4EB7-94BF-30B47626B9D6}"/>
              </a:ext>
            </a:extLst>
          </p:cNvPr>
          <p:cNvSpPr>
            <a:spLocks noGrp="1"/>
          </p:cNvSpPr>
          <p:nvPr/>
        </p:nvSpPr>
        <p:spPr>
          <a:xfrm>
            <a:off x="1104900" y="1066800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候补队列与自动兑现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5F1B180-6504-4F48-84AB-864361998BD2}"/>
              </a:ext>
            </a:extLst>
          </p:cNvPr>
          <p:cNvSpPr>
            <a:spLocks noGrp="1"/>
          </p:cNvSpPr>
          <p:nvPr/>
        </p:nvSpPr>
        <p:spPr>
          <a:xfrm>
            <a:off x="800100" y="1676400"/>
            <a:ext cx="10648950" cy="9525"/>
          </a:xfrm>
          <a:prstGeom prst="rect">
            <a:avLst/>
          </a:prstGeom>
          <a:solidFill>
            <a:srgbClr val="EEE5DE"/>
          </a:solidFill>
          <a:ln w="0">
            <a:noFill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FF233C1-4EC1-483E-B99B-23CA12D4ED4D}"/>
              </a:ext>
            </a:extLst>
          </p:cNvPr>
          <p:cNvSpPr>
            <a:spLocks noGrp="1"/>
          </p:cNvSpPr>
          <p:nvPr/>
        </p:nvSpPr>
        <p:spPr>
          <a:xfrm>
            <a:off x="800100" y="1952625"/>
            <a:ext cx="6572250" cy="4000500"/>
          </a:xfrm>
          <a:prstGeom prst="roundRect">
            <a:avLst>
              <a:gd name="adj" fmla="val 3810"/>
            </a:avLst>
          </a:prstGeom>
          <a:solidFill>
            <a:srgbClr val="FFF8F2"/>
          </a:solidFill>
          <a:ln w="9525">
            <a:solidFill>
              <a:srgbClr val="FFD7B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6DF2472B-5A91-4FA5-80EA-1ABE5F67B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14400" y="2305226"/>
            <a:ext cx="6343650" cy="3295297"/>
          </a:xfrm>
          <a:prstGeom prst="roundRect">
            <a:avLst>
              <a:gd name="adj" fmla="val 3030"/>
            </a:avLst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688ABA65-0CBF-4751-96FA-06387AD07B1A}"/>
              </a:ext>
            </a:extLst>
          </p:cNvPr>
          <p:cNvSpPr>
            <a:spLocks noGrp="1"/>
          </p:cNvSpPr>
          <p:nvPr/>
        </p:nvSpPr>
        <p:spPr>
          <a:xfrm>
            <a:off x="7772400" y="211455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有票后复用普通购票事务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54FB933-258D-473A-AC57-F3AB251A4A00}"/>
              </a:ext>
            </a:extLst>
          </p:cNvPr>
          <p:cNvSpPr>
            <a:spLocks noGrp="1"/>
          </p:cNvSpPr>
          <p:nvPr/>
        </p:nvSpPr>
        <p:spPr>
          <a:xfrm>
            <a:off x="7772400" y="2781300"/>
            <a:ext cx="685800" cy="323850"/>
          </a:xfrm>
          <a:prstGeom prst="roundRect">
            <a:avLst>
              <a:gd name="adj" fmla="val 23529"/>
            </a:avLst>
          </a:prstGeom>
          <a:solidFill>
            <a:srgbClr val="FF7417"/>
          </a:solidFill>
          <a:ln w="0"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DF78410-C440-4BB0-9E40-307B0E0C7F8C}"/>
              </a:ext>
            </a:extLst>
          </p:cNvPr>
          <p:cNvSpPr>
            <a:spLocks noGrp="1"/>
          </p:cNvSpPr>
          <p:nvPr/>
        </p:nvSpPr>
        <p:spPr>
          <a:xfrm>
            <a:off x="7772400" y="278130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入队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F8E2082-EB87-4D79-A341-30E474EC7B6B}"/>
              </a:ext>
            </a:extLst>
          </p:cNvPr>
          <p:cNvSpPr>
            <a:spLocks noGrp="1"/>
          </p:cNvSpPr>
          <p:nvPr/>
        </p:nvSpPr>
        <p:spPr>
          <a:xfrm>
            <a:off x="8610600" y="2743200"/>
            <a:ext cx="24003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候补申请先支付并写入MySQL，记录区间、席别与创建时间。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37C6ED1-A06E-4B89-B1AC-3F63321F5B36}"/>
              </a:ext>
            </a:extLst>
          </p:cNvPr>
          <p:cNvSpPr>
            <a:spLocks noGrp="1"/>
          </p:cNvSpPr>
          <p:nvPr/>
        </p:nvSpPr>
        <p:spPr>
          <a:xfrm>
            <a:off x="7772400" y="3771900"/>
            <a:ext cx="685800" cy="323850"/>
          </a:xfrm>
          <a:prstGeom prst="roundRect">
            <a:avLst>
              <a:gd name="adj" fmla="val 23529"/>
            </a:avLst>
          </a:prstGeom>
          <a:solidFill>
            <a:srgbClr val="FF7417"/>
          </a:solidFill>
          <a:ln w="0">
            <a:noFill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C9A984F-7EFE-4C75-BBDA-265C84628EF6}"/>
              </a:ext>
            </a:extLst>
          </p:cNvPr>
          <p:cNvSpPr>
            <a:spLocks noGrp="1"/>
          </p:cNvSpPr>
          <p:nvPr/>
        </p:nvSpPr>
        <p:spPr>
          <a:xfrm>
            <a:off x="7772400" y="377190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407744-3231-49AE-A2F7-BB12CC34F610}"/>
              </a:ext>
            </a:extLst>
          </p:cNvPr>
          <p:cNvSpPr>
            <a:spLocks noGrp="1"/>
          </p:cNvSpPr>
          <p:nvPr/>
        </p:nvSpPr>
        <p:spPr>
          <a:xfrm>
            <a:off x="8610600" y="3733800"/>
            <a:ext cx="24003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退票释放库存后立即匹配，后台线程同时执行补偿扫描。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4DD90BA-8721-4681-B75E-9C4193E573C2}"/>
              </a:ext>
            </a:extLst>
          </p:cNvPr>
          <p:cNvSpPr>
            <a:spLocks noGrp="1"/>
          </p:cNvSpPr>
          <p:nvPr/>
        </p:nvSpPr>
        <p:spPr>
          <a:xfrm>
            <a:off x="7772400" y="4762500"/>
            <a:ext cx="685800" cy="323850"/>
          </a:xfrm>
          <a:prstGeom prst="roundRect">
            <a:avLst>
              <a:gd name="adj" fmla="val 23529"/>
            </a:avLst>
          </a:prstGeom>
          <a:solidFill>
            <a:srgbClr val="FF7417"/>
          </a:solidFill>
          <a:ln w="0">
            <a:noFill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8827760-9458-4750-BFB7-DE7C1CFFB2BE}"/>
              </a:ext>
            </a:extLst>
          </p:cNvPr>
          <p:cNvSpPr>
            <a:spLocks noGrp="1"/>
          </p:cNvSpPr>
          <p:nvPr/>
        </p:nvSpPr>
        <p:spPr>
          <a:xfrm>
            <a:off x="7772400" y="4762500"/>
            <a:ext cx="685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兑现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6EBECE3-655B-40FD-B66B-0B1D39826ABA}"/>
              </a:ext>
            </a:extLst>
          </p:cNvPr>
          <p:cNvSpPr>
            <a:spLocks noGrp="1"/>
          </p:cNvSpPr>
          <p:nvPr/>
        </p:nvSpPr>
        <p:spPr>
          <a:xfrm>
            <a:off x="8610600" y="4724400"/>
            <a:ext cx="24003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匹配成功后复用普通购票事务，占座并更新订单状态。</a:t>
            </a:r>
          </a:p>
        </p:txBody>
      </p:sp>
    </p:spTree>
    <p:extLst>
      <p:ext uri="{BB962C8B-B14F-4D97-AF65-F5344CB8AC3E}">
        <p14:creationId xmlns:p14="http://schemas.microsoft.com/office/powerpoint/2010/main" val="1156772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91FE6D1C-9FF5-4FCE-AF03-AC310D3E48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3"/>
          </a:solidFill>
          <a:ln w="0">
            <a:noFill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8BA8EF0-9454-4E89-8645-0A8C1F2743F1}"/>
              </a:ext>
            </a:extLst>
          </p:cNvPr>
          <p:cNvSpPr>
            <a:spLocks noGrp="1"/>
          </p:cNvSpPr>
          <p:nvPr/>
        </p:nvSpPr>
        <p:spPr>
          <a:xfrm>
            <a:off x="-2571750" y="-3714750"/>
            <a:ext cx="11334750" cy="5810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25B82EC-A63B-4415-8BB7-6B8339B47400}"/>
              </a:ext>
            </a:extLst>
          </p:cNvPr>
          <p:cNvSpPr>
            <a:spLocks noGrp="1"/>
          </p:cNvSpPr>
          <p:nvPr/>
        </p:nvSpPr>
        <p:spPr>
          <a:xfrm>
            <a:off x="5095875" y="-4953000"/>
            <a:ext cx="10001250" cy="6238875"/>
          </a:xfrm>
          <a:prstGeom prst="ellipse">
            <a:avLst/>
          </a:prstGeom>
          <a:solidFill>
            <a:srgbClr val="FFFDFB"/>
          </a:solidFill>
          <a:ln w="0">
            <a:noFill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DF6F9A6E-78D7-463A-B410-A410B14156EC}"/>
              </a:ext>
            </a:extLst>
          </p:cNvPr>
          <p:cNvSpPr>
            <a:spLocks noGrp="1"/>
          </p:cNvSpPr>
          <p:nvPr/>
        </p:nvSpPr>
        <p:spPr>
          <a:xfrm>
            <a:off x="-2857500" y="5334000"/>
            <a:ext cx="10477500" cy="29527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2EBEC6E-7C81-4206-94EE-5A7F8D49C0D7}"/>
              </a:ext>
            </a:extLst>
          </p:cNvPr>
          <p:cNvSpPr>
            <a:spLocks noGrp="1"/>
          </p:cNvSpPr>
          <p:nvPr/>
        </p:nvSpPr>
        <p:spPr>
          <a:xfrm>
            <a:off x="3714750" y="5095875"/>
            <a:ext cx="11239500" cy="3143250"/>
          </a:xfrm>
          <a:prstGeom prst="ellipse">
            <a:avLst/>
          </a:prstGeom>
          <a:solidFill>
            <a:srgbClr val="FF9A55"/>
          </a:solidFill>
          <a:ln w="0">
            <a:noFill/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6C29F7E-301A-4DFC-8FD8-A43DF5DFCB8B}"/>
              </a:ext>
            </a:extLst>
          </p:cNvPr>
          <p:cNvSpPr>
            <a:spLocks noGrp="1"/>
          </p:cNvSpPr>
          <p:nvPr/>
        </p:nvSpPr>
        <p:spPr>
          <a:xfrm>
            <a:off x="2286000" y="4495800"/>
            <a:ext cx="10287000" cy="2476500"/>
          </a:xfrm>
          <a:prstGeom prst="ellipse">
            <a:avLst/>
          </a:prstGeom>
          <a:solidFill>
            <a:srgbClr val="FFC89F"/>
          </a:solidFill>
          <a:ln w="0">
            <a:noFill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E28387C-7072-4B74-A10A-113FCF12C6C3}"/>
              </a:ext>
            </a:extLst>
          </p:cNvPr>
          <p:cNvSpPr>
            <a:spLocks noGrp="1"/>
          </p:cNvSpPr>
          <p:nvPr/>
        </p:nvSpPr>
        <p:spPr>
          <a:xfrm>
            <a:off x="438150" y="285750"/>
            <a:ext cx="11315700" cy="6286500"/>
          </a:xfrm>
          <a:prstGeom prst="roundRect">
            <a:avLst>
              <a:gd name="adj" fmla="val 3636"/>
            </a:avLst>
          </a:prstGeom>
          <a:solidFill>
            <a:srgbClr val="FFFDFB"/>
          </a:solidFill>
          <a:ln w="9525">
            <a:solidFill>
              <a:srgbClr val="F4E9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C4CCF0C-2875-45AC-B245-FF438A818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503324"/>
            <a:ext cx="552450" cy="27922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1592684-A77E-4144-822C-6B2330B9AE50}"/>
              </a:ext>
            </a:extLst>
          </p:cNvPr>
          <p:cNvSpPr>
            <a:spLocks noGrp="1"/>
          </p:cNvSpPr>
          <p:nvPr/>
        </p:nvSpPr>
        <p:spPr>
          <a:xfrm>
            <a:off x="781050" y="762000"/>
            <a:ext cx="476250" cy="114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E3B846-654B-4481-AE8D-8C287E794A1D}"/>
              </a:ext>
            </a:extLst>
          </p:cNvPr>
          <p:cNvSpPr>
            <a:spLocks noGrp="1"/>
          </p:cNvSpPr>
          <p:nvPr/>
        </p:nvSpPr>
        <p:spPr>
          <a:xfrm>
            <a:off x="1409700" y="514350"/>
            <a:ext cx="135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0257548-F334-4648-9BA4-B37575906C51}"/>
              </a:ext>
            </a:extLst>
          </p:cNvPr>
          <p:cNvSpPr>
            <a:spLocks noGrp="1"/>
          </p:cNvSpPr>
          <p:nvPr/>
        </p:nvSpPr>
        <p:spPr>
          <a:xfrm>
            <a:off x="101917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90D40CC-11A0-4C6E-8F39-2E9CC2C24110}"/>
              </a:ext>
            </a:extLst>
          </p:cNvPr>
          <p:cNvSpPr>
            <a:spLocks noGrp="1"/>
          </p:cNvSpPr>
          <p:nvPr/>
        </p:nvSpPr>
        <p:spPr>
          <a:xfrm>
            <a:off x="1040130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CFD8E90-0B91-48DE-806D-5148C161843A}"/>
              </a:ext>
            </a:extLst>
          </p:cNvPr>
          <p:cNvSpPr>
            <a:spLocks noGrp="1"/>
          </p:cNvSpPr>
          <p:nvPr/>
        </p:nvSpPr>
        <p:spPr>
          <a:xfrm>
            <a:off x="1061085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C46DD1E-4FC2-4FD8-8095-E34435E08F34}"/>
              </a:ext>
            </a:extLst>
          </p:cNvPr>
          <p:cNvSpPr>
            <a:spLocks noGrp="1"/>
          </p:cNvSpPr>
          <p:nvPr/>
        </p:nvSpPr>
        <p:spPr>
          <a:xfrm>
            <a:off x="10820400" y="561975"/>
            <a:ext cx="95250" cy="95250"/>
          </a:xfrm>
          <a:prstGeom prst="ellipse">
            <a:avLst/>
          </a:prstGeom>
          <a:solidFill>
            <a:srgbClr val="DED9D5"/>
          </a:solidFill>
          <a:ln w="0">
            <a:noFill/>
          </a:ln>
        </p:spPr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93A8658-BA09-43FE-910A-AE21FDDCBE8D}"/>
              </a:ext>
            </a:extLst>
          </p:cNvPr>
          <p:cNvSpPr>
            <a:spLocks noGrp="1"/>
          </p:cNvSpPr>
          <p:nvPr/>
        </p:nvSpPr>
        <p:spPr>
          <a:xfrm>
            <a:off x="11029950" y="561975"/>
            <a:ext cx="95250" cy="95250"/>
          </a:xfrm>
          <a:prstGeom prst="ellipse">
            <a:avLst/>
          </a:prstGeom>
          <a:solidFill>
            <a:srgbClr val="FF7417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958409B-D6C0-4F16-B19B-C6DF9BDDD966}"/>
              </a:ext>
            </a:extLst>
          </p:cNvPr>
          <p:cNvSpPr>
            <a:spLocks noGrp="1"/>
          </p:cNvSpPr>
          <p:nvPr/>
        </p:nvSpPr>
        <p:spPr>
          <a:xfrm>
            <a:off x="11049000" y="49530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620F6D1-1690-4D0F-9C32-FE576D5C5047}"/>
              </a:ext>
            </a:extLst>
          </p:cNvPr>
          <p:cNvSpPr>
            <a:spLocks noGrp="1"/>
          </p:cNvSpPr>
          <p:nvPr/>
        </p:nvSpPr>
        <p:spPr>
          <a:xfrm>
            <a:off x="800100" y="1181100"/>
            <a:ext cx="133350" cy="228600"/>
          </a:xfrm>
          <a:prstGeom prst="roundRect">
            <a:avLst>
              <a:gd name="adj" fmla="val 14286"/>
            </a:avLst>
          </a:prstGeom>
          <a:solidFill>
            <a:srgbClr val="FF7417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77D7C9D-3AB2-454F-A04B-DE25561A718C}"/>
              </a:ext>
            </a:extLst>
          </p:cNvPr>
          <p:cNvSpPr>
            <a:spLocks noGrp="1"/>
          </p:cNvSpPr>
          <p:nvPr/>
        </p:nvSpPr>
        <p:spPr>
          <a:xfrm>
            <a:off x="1104900" y="1066800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系统实现效果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AC29BC-A3CF-4D5E-98C3-60562ADE883F}"/>
              </a:ext>
            </a:extLst>
          </p:cNvPr>
          <p:cNvSpPr>
            <a:spLocks noGrp="1"/>
          </p:cNvSpPr>
          <p:nvPr/>
        </p:nvSpPr>
        <p:spPr>
          <a:xfrm>
            <a:off x="800100" y="1676400"/>
            <a:ext cx="10648950" cy="9525"/>
          </a:xfrm>
          <a:prstGeom prst="rect">
            <a:avLst/>
          </a:prstGeom>
          <a:solidFill>
            <a:srgbClr val="EEE5DE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65BEE32-3136-4018-8C00-E4193F9BD99C}"/>
              </a:ext>
            </a:extLst>
          </p:cNvPr>
          <p:cNvSpPr>
            <a:spLocks noGrp="1"/>
          </p:cNvSpPr>
          <p:nvPr/>
        </p:nvSpPr>
        <p:spPr>
          <a:xfrm>
            <a:off x="857250" y="1752600"/>
            <a:ext cx="7239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05000"/>
              </a:lnSpc>
              <a:buNone/>
              <a:defRPr sz="11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用户端购票流程与管理端候补队列均已实现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70F43EE-E72E-469A-ABCB-86AA4573C878}"/>
              </a:ext>
            </a:extLst>
          </p:cNvPr>
          <p:cNvSpPr>
            <a:spLocks noGrp="1"/>
          </p:cNvSpPr>
          <p:nvPr/>
        </p:nvSpPr>
        <p:spPr>
          <a:xfrm>
            <a:off x="800100" y="2143125"/>
            <a:ext cx="6591300" cy="3733800"/>
          </a:xfrm>
          <a:prstGeom prst="roundRect">
            <a:avLst>
              <a:gd name="adj" fmla="val 4082"/>
            </a:avLst>
          </a:prstGeom>
          <a:solidFill>
            <a:srgbClr val="FFF8F2"/>
          </a:solidFill>
          <a:ln w="9525">
            <a:solidFill>
              <a:srgbClr val="FFD7B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D1464B0A-2ED6-494B-BAD2-8DD2D9843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14400" y="2281431"/>
            <a:ext cx="6362700" cy="3285738"/>
          </a:xfrm>
          <a:prstGeom prst="roundRect">
            <a:avLst>
              <a:gd name="adj" fmla="val 3429"/>
            </a:avLst>
          </a:prstGeom>
        </p:spPr>
      </p:pic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B1314EE-8EEF-4E54-A6E3-D3180C4C36B6}"/>
              </a:ext>
            </a:extLst>
          </p:cNvPr>
          <p:cNvSpPr>
            <a:spLocks noGrp="1"/>
          </p:cNvSpPr>
          <p:nvPr/>
        </p:nvSpPr>
        <p:spPr>
          <a:xfrm>
            <a:off x="1028700" y="5467350"/>
            <a:ext cx="2000250" cy="285750"/>
          </a:xfrm>
          <a:prstGeom prst="roundRect">
            <a:avLst>
              <a:gd name="adj" fmla="val 26667"/>
            </a:avLst>
          </a:prstGeom>
          <a:solidFill>
            <a:srgbClr val="FF7417"/>
          </a:solidFill>
          <a:ln w="0"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3D7EFEE-AF8B-4BE6-A796-AC02DEB3E829}"/>
              </a:ext>
            </a:extLst>
          </p:cNvPr>
          <p:cNvSpPr>
            <a:spLocks noGrp="1"/>
          </p:cNvSpPr>
          <p:nvPr/>
        </p:nvSpPr>
        <p:spPr>
          <a:xfrm>
            <a:off x="1028700" y="5467350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候补队列实时监控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CD8E48C-D04B-4D5C-8DD9-481207CB1D4F}"/>
              </a:ext>
            </a:extLst>
          </p:cNvPr>
          <p:cNvSpPr>
            <a:spLocks noGrp="1"/>
          </p:cNvSpPr>
          <p:nvPr/>
        </p:nvSpPr>
        <p:spPr>
          <a:xfrm>
            <a:off x="7600950" y="2143125"/>
            <a:ext cx="3562350" cy="1809750"/>
          </a:xfrm>
          <a:prstGeom prst="roundRect">
            <a:avLst>
              <a:gd name="adj" fmla="val 8421"/>
            </a:avLst>
          </a:prstGeom>
          <a:solidFill>
            <a:srgbClr val="FFF8F2"/>
          </a:solidFill>
          <a:ln w="9525">
            <a:solidFill>
              <a:srgbClr val="FFD7B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7AEDA3BF-8747-4BF1-AF12-3D15398E79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71099" y="2257425"/>
            <a:ext cx="2822051" cy="1457325"/>
          </a:xfrm>
          <a:prstGeom prst="roundRect">
            <a:avLst>
              <a:gd name="adj" fmla="val 7843"/>
            </a:avLst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B63081F3-663A-4095-BD4F-331D0EB64130}"/>
              </a:ext>
            </a:extLst>
          </p:cNvPr>
          <p:cNvSpPr>
            <a:spLocks noGrp="1"/>
          </p:cNvSpPr>
          <p:nvPr/>
        </p:nvSpPr>
        <p:spPr>
          <a:xfrm>
            <a:off x="7715250" y="3638550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938" b="1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938" b="1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车次与实时余票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5CBD39B-F27F-4BC5-82A2-4A6E67F55035}"/>
              </a:ext>
            </a:extLst>
          </p:cNvPr>
          <p:cNvSpPr>
            <a:spLocks noGrp="1"/>
          </p:cNvSpPr>
          <p:nvPr/>
        </p:nvSpPr>
        <p:spPr>
          <a:xfrm>
            <a:off x="7600950" y="4067175"/>
            <a:ext cx="3562350" cy="1809750"/>
          </a:xfrm>
          <a:prstGeom prst="roundRect">
            <a:avLst>
              <a:gd name="adj" fmla="val 8421"/>
            </a:avLst>
          </a:prstGeom>
          <a:solidFill>
            <a:srgbClr val="FFF8F2"/>
          </a:solidFill>
          <a:ln w="9525">
            <a:solidFill>
              <a:srgbClr val="FFD7B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343FA942-1A83-436C-A12D-78EBA78929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971099" y="4181475"/>
            <a:ext cx="2822051" cy="1457325"/>
          </a:xfrm>
          <a:prstGeom prst="roundRect">
            <a:avLst>
              <a:gd name="adj" fmla="val 7843"/>
            </a:avLst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2193393F-EF2F-45B6-9B09-308CD6A6DBA1}"/>
              </a:ext>
            </a:extLst>
          </p:cNvPr>
          <p:cNvSpPr>
            <a:spLocks noGrp="1"/>
          </p:cNvSpPr>
          <p:nvPr/>
        </p:nvSpPr>
        <p:spPr>
          <a:xfrm>
            <a:off x="7715250" y="5562600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938" b="1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938" b="1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订单完成与电子车票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9ED8E6B-D63A-423B-89FF-C36881F1F072}"/>
              </a:ext>
            </a:extLst>
          </p:cNvPr>
          <p:cNvSpPr>
            <a:spLocks noGrp="1"/>
          </p:cNvSpPr>
          <p:nvPr/>
        </p:nvSpPr>
        <p:spPr>
          <a:xfrm>
            <a:off x="838200" y="6229350"/>
            <a:ext cx="1042987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05000"/>
              </a:lnSpc>
              <a:buNone/>
              <a:def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课程实验模拟售票系统，非中国铁路12306官方购票渠道</a:t>
            </a:r>
          </a:p>
        </p:txBody>
      </p:sp>
    </p:spTree>
    <p:extLst>
      <p:ext uri="{BB962C8B-B14F-4D97-AF65-F5344CB8AC3E}">
        <p14:creationId xmlns:p14="http://schemas.microsoft.com/office/powerpoint/2010/main" val="1311111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07AD833-C6BC-3A63-0A0F-0F69B6ED1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785" y="-50800"/>
            <a:ext cx="12275785" cy="690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39527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554</Words>
  <Application>Microsoft Office PowerPoint</Application>
  <DocSecurity>0</DocSecurity>
  <PresentationFormat>宽屏</PresentationFormat>
  <Paragraphs>169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弈含 成</cp:lastModifiedBy>
  <cp:revision>2</cp:revision>
  <dcterms:created xsi:type="dcterms:W3CDTF">2026-10-12T14:44:31Z</dcterms:created>
  <dcterms:modified xsi:type="dcterms:W3CDTF">2026-10-12T15:53:40Z</dcterms:modified>
</cp:coreProperties>
</file>